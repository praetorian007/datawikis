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9144000" cy="54864"/>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9144000" cy="228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8595360" cy="503000"/>
          </a:xfrm>
          <a:prstGeom prst="rect">
            <a:avLst/>
          </a:prstGeom>
          <a:noFill/>
        </p:spPr>
        <p:txBody>
          <a:bodyPr wrap="square">
            <a:spAutoFit/>
          </a:bodyPr>
          <a:lstStyle/>
          <a:p>
            <a:pPr algn="l"/>
            <a:r>
              <a:rPr sz="2200" b="1" i="0">
                <a:solidFill>
                  <a:srgbClr val="FFFFFF"/>
                </a:solidFill>
              </a:rPr>
              <a:t>The EDAP Portfolio Vision</a:t>
            </a:r>
          </a:p>
        </p:txBody>
      </p:sp>
      <p:sp>
        <p:nvSpPr>
          <p:cNvPr id="6" name="TextBox 5"/>
          <p:cNvSpPr txBox="1"/>
          <p:nvPr/>
        </p:nvSpPr>
        <p:spPr>
          <a:xfrm>
            <a:off x="274320" y="619000"/>
            <a:ext cx="8595360" cy="380000"/>
          </a:xfrm>
          <a:prstGeom prst="rect">
            <a:avLst/>
          </a:prstGeom>
          <a:noFill/>
        </p:spPr>
        <p:txBody>
          <a:bodyPr wrap="square">
            <a:spAutoFit/>
          </a:bodyPr>
          <a:lstStyle/>
          <a:p>
            <a:pPr algn="l"/>
            <a:r>
              <a:rPr sz="1100" b="0" i="0">
                <a:solidFill>
                  <a:srgbClr val="B0C8E0"/>
                </a:solidFill>
              </a:rPr>
              <a:t>The strategic intent driving Water Corporation’s enterprise data transformation</a:t>
            </a:r>
          </a:p>
        </p:txBody>
      </p:sp>
      <p:sp>
        <p:nvSpPr>
          <p:cNvPr id="7" name="TextBox 6"/>
          <p:cNvSpPr txBox="1"/>
          <p:nvPr/>
        </p:nvSpPr>
        <p:spPr>
          <a:xfrm>
            <a:off x="274320" y="6674400"/>
            <a:ext cx="6858000" cy="180000"/>
          </a:xfrm>
          <a:prstGeom prst="rect">
            <a:avLst/>
          </a:prstGeom>
          <a:noFill/>
        </p:spPr>
        <p:txBody>
          <a:bodyPr wrap="square">
            <a:spAutoFit/>
          </a:bodyPr>
          <a:lstStyle/>
          <a:p>
            <a:pPr algn="l"/>
            <a:r>
              <a:rPr sz="800" b="0" i="0">
                <a:solidFill>
                  <a:srgbClr val="B0C8E0"/>
                </a:solidFill>
              </a:rPr>
              <a:t>Water Corporation  |  EDAP Programme  |  March 2026</a:t>
            </a:r>
          </a:p>
        </p:txBody>
      </p:sp>
      <p:sp>
        <p:nvSpPr>
          <p:cNvPr id="8" name="TextBox 7"/>
          <p:cNvSpPr txBox="1"/>
          <p:nvPr/>
        </p:nvSpPr>
        <p:spPr>
          <a:xfrm>
            <a:off x="8319680" y="6674400"/>
            <a:ext cx="550000" cy="180000"/>
          </a:xfrm>
          <a:prstGeom prst="rect">
            <a:avLst/>
          </a:prstGeom>
          <a:noFill/>
        </p:spPr>
        <p:txBody>
          <a:bodyPr wrap="square">
            <a:spAutoFit/>
          </a:bodyPr>
          <a:lstStyle/>
          <a:p>
            <a:pPr algn="r"/>
            <a:r>
              <a:rPr sz="800" b="0" i="0">
                <a:solidFill>
                  <a:srgbClr val="B0C8E0"/>
                </a:solidFill>
              </a:rPr>
              <a:t>1 / 4</a:t>
            </a:r>
          </a:p>
        </p:txBody>
      </p:sp>
      <p:sp>
        <p:nvSpPr>
          <p:cNvPr id="9" name="TextBox 8"/>
          <p:cNvSpPr txBox="1"/>
          <p:nvPr/>
        </p:nvSpPr>
        <p:spPr>
          <a:xfrm>
            <a:off x="274320" y="1196424"/>
            <a:ext cx="8595360" cy="260000"/>
          </a:xfrm>
          <a:prstGeom prst="rect">
            <a:avLst/>
          </a:prstGeom>
          <a:noFill/>
        </p:spPr>
        <p:txBody>
          <a:bodyPr wrap="square">
            <a:spAutoFit/>
          </a:bodyPr>
          <a:lstStyle/>
          <a:p>
            <a:pPr algn="l"/>
            <a:r>
              <a:rPr sz="1050" b="0" i="1">
                <a:solidFill>
                  <a:srgbClr val="2C2C2C"/>
                </a:solidFill>
              </a:rPr>
              <a:t>Water Corporation’s data capability has grown organically across seven domains. EDAP exists to consolidate, govern, and unlock it.</a:t>
            </a:r>
          </a:p>
        </p:txBody>
      </p:sp>
      <p:sp>
        <p:nvSpPr>
          <p:cNvPr id="10" name="Rectangle 9"/>
          <p:cNvSpPr/>
          <p:nvPr/>
        </p:nvSpPr>
        <p:spPr>
          <a:xfrm>
            <a:off x="274320" y="1496424"/>
            <a:ext cx="8595360" cy="110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96424"/>
            <a:ext cx="18000" cy="1100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320" y="1606152"/>
            <a:ext cx="8515360" cy="880544"/>
          </a:xfrm>
          <a:prstGeom prst="rect">
            <a:avLst/>
          </a:prstGeom>
          <a:noFill/>
        </p:spPr>
        <p:txBody>
          <a:bodyPr wrap="square">
            <a:spAutoFit/>
          </a:bodyPr>
          <a:lstStyle/>
          <a:p>
            <a:pPr algn="l">
              <a:spcAft>
                <a:spcPts val="1200"/>
              </a:spcAft>
            </a:pPr>
            <a:r>
              <a:rPr sz="1400" b="0" i="1">
                <a:solidFill>
                  <a:srgbClr val="FFFFFF"/>
                </a:solidFill>
              </a:rPr>
              <a:t>“Transition Water Corporation from fragmented, reactive data practices to a proactive, intelligence-driven utility — where compliance by design and data liquidity accelerate operational resilience and innovation.”</a:t>
            </a:r>
          </a:p>
          <a:p>
            <a:pPr algn="l"/>
            <a:r>
              <a:rPr sz="900" b="0" i="0">
                <a:solidFill>
                  <a:srgbClr val="B0C8E0"/>
                </a:solidFill>
              </a:rPr>
              <a:t>EDAP Portfolio Vision  |  Water Corporation Data &amp; Analytics Programme</a:t>
            </a:r>
          </a:p>
        </p:txBody>
      </p:sp>
      <p:sp>
        <p:nvSpPr>
          <p:cNvPr id="13" name="Rectangle 12"/>
          <p:cNvSpPr/>
          <p:nvPr/>
        </p:nvSpPr>
        <p:spPr>
          <a:xfrm>
            <a:off x="274320" y="2706424"/>
            <a:ext cx="2824800" cy="3842976"/>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706424"/>
            <a:ext cx="2824800" cy="310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776424"/>
            <a:ext cx="2605344" cy="200000"/>
          </a:xfrm>
          <a:prstGeom prst="rect">
            <a:avLst/>
          </a:prstGeom>
          <a:noFill/>
        </p:spPr>
        <p:txBody>
          <a:bodyPr wrap="square">
            <a:spAutoFit/>
          </a:bodyPr>
          <a:lstStyle/>
          <a:p>
            <a:pPr algn="l"/>
            <a:r>
              <a:rPr sz="1100" b="1" i="0">
                <a:solidFill>
                  <a:srgbClr val="FFFFFF"/>
                </a:solidFill>
              </a:rPr>
              <a:t>The Challenge</a:t>
            </a:r>
          </a:p>
        </p:txBody>
      </p:sp>
      <p:sp>
        <p:nvSpPr>
          <p:cNvPr id="16" name="TextBox 15"/>
          <p:cNvSpPr txBox="1"/>
          <p:nvPr/>
        </p:nvSpPr>
        <p:spPr>
          <a:xfrm>
            <a:off x="384048" y="3076424"/>
            <a:ext cx="2605344" cy="3422976"/>
          </a:xfrm>
          <a:prstGeom prst="rect">
            <a:avLst/>
          </a:prstGeom>
          <a:noFill/>
        </p:spPr>
        <p:txBody>
          <a:bodyPr wrap="square">
            <a:spAutoFit/>
          </a:bodyPr>
          <a:lstStyle/>
          <a:p>
            <a:pPr algn="l">
              <a:spcAft>
                <a:spcPts val="300"/>
              </a:spcAft>
            </a:pPr>
            <a:r>
              <a:rPr sz="950" b="0" i="0">
                <a:solidFill>
                  <a:srgbClr val="2C2C2C"/>
                </a:solidFill>
              </a:rPr>
              <a:t>•  Six source systems in operational silos</a:t>
            </a:r>
          </a:p>
          <a:p>
            <a:pPr algn="l">
              <a:spcBef>
                <a:spcPts val="300"/>
              </a:spcBef>
              <a:spcAft>
                <a:spcPts val="300"/>
              </a:spcAft>
            </a:pPr>
            <a:r>
              <a:rPr sz="950" b="0" i="0">
                <a:solidFill>
                  <a:srgbClr val="2C2C2C"/>
                </a:solidFill>
              </a:rPr>
              <a:t>•  Four pipeline technologies (Glue, ADF, SAP DS, SageMaker) uncoordinated</a:t>
            </a:r>
          </a:p>
          <a:p>
            <a:pPr algn="l">
              <a:spcBef>
                <a:spcPts val="300"/>
              </a:spcBef>
              <a:spcAft>
                <a:spcPts val="300"/>
              </a:spcAft>
            </a:pPr>
            <a:r>
              <a:rPr sz="950" b="0" i="0">
                <a:solidFill>
                  <a:srgbClr val="2C2C2C"/>
                </a:solidFill>
              </a:rPr>
              <a:t>•  No unified governance — classification inconsistent, access ad hoc</a:t>
            </a:r>
          </a:p>
          <a:p>
            <a:pPr algn="l">
              <a:spcBef>
                <a:spcPts val="300"/>
              </a:spcBef>
              <a:spcAft>
                <a:spcPts val="300"/>
              </a:spcAft>
            </a:pPr>
            <a:r>
              <a:rPr sz="950" b="0" i="0">
                <a:solidFill>
                  <a:srgbClr val="2C2C2C"/>
                </a:solidFill>
              </a:rPr>
              <a:t>•  Regulatory obligations met manually and reactively</a:t>
            </a:r>
          </a:p>
          <a:p>
            <a:pPr algn="l">
              <a:spcBef>
                <a:spcPts val="300"/>
              </a:spcBef>
              <a:spcAft>
                <a:spcPts val="300"/>
              </a:spcAft>
            </a:pPr>
            <a:r>
              <a:rPr sz="950" b="0" i="0">
                <a:solidFill>
                  <a:srgbClr val="2C2C2C"/>
                </a:solidFill>
              </a:rPr>
              <a:t>•  Knowledge concentrated in individuals, not the platform</a:t>
            </a:r>
          </a:p>
        </p:txBody>
      </p:sp>
      <p:sp>
        <p:nvSpPr>
          <p:cNvPr id="17" name="Rectangle 16"/>
          <p:cNvSpPr/>
          <p:nvPr/>
        </p:nvSpPr>
        <p:spPr>
          <a:xfrm>
            <a:off x="3159600" y="2706424"/>
            <a:ext cx="2824800" cy="3842976"/>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59600" y="2706424"/>
            <a:ext cx="2824800" cy="310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9328" y="2776424"/>
            <a:ext cx="2605344" cy="200000"/>
          </a:xfrm>
          <a:prstGeom prst="rect">
            <a:avLst/>
          </a:prstGeom>
          <a:noFill/>
        </p:spPr>
        <p:txBody>
          <a:bodyPr wrap="square">
            <a:spAutoFit/>
          </a:bodyPr>
          <a:lstStyle/>
          <a:p>
            <a:pPr algn="l"/>
            <a:r>
              <a:rPr sz="1100" b="1" i="0">
                <a:solidFill>
                  <a:srgbClr val="FFFFFF"/>
                </a:solidFill>
              </a:rPr>
              <a:t>The Aspiration</a:t>
            </a:r>
          </a:p>
        </p:txBody>
      </p:sp>
      <p:sp>
        <p:nvSpPr>
          <p:cNvPr id="20" name="TextBox 19"/>
          <p:cNvSpPr txBox="1"/>
          <p:nvPr/>
        </p:nvSpPr>
        <p:spPr>
          <a:xfrm>
            <a:off x="3269328" y="3076424"/>
            <a:ext cx="2605344" cy="3422976"/>
          </a:xfrm>
          <a:prstGeom prst="rect">
            <a:avLst/>
          </a:prstGeom>
          <a:noFill/>
        </p:spPr>
        <p:txBody>
          <a:bodyPr wrap="square">
            <a:spAutoFit/>
          </a:bodyPr>
          <a:lstStyle/>
          <a:p>
            <a:pPr algn="l">
              <a:spcAft>
                <a:spcPts val="300"/>
              </a:spcAft>
            </a:pPr>
            <a:r>
              <a:rPr sz="950" b="0" i="0">
                <a:solidFill>
                  <a:srgbClr val="2C2C2C"/>
                </a:solidFill>
              </a:rPr>
              <a:t>•  Single governed platform across all seven business domains</a:t>
            </a:r>
          </a:p>
          <a:p>
            <a:pPr algn="l">
              <a:spcBef>
                <a:spcPts val="300"/>
              </a:spcBef>
              <a:spcAft>
                <a:spcPts val="300"/>
              </a:spcAft>
            </a:pPr>
            <a:r>
              <a:rPr sz="950" b="0" i="0">
                <a:solidFill>
                  <a:srgbClr val="2C2C2C"/>
                </a:solidFill>
              </a:rPr>
              <a:t>•  New data source onboarded in days via configuration, not code</a:t>
            </a:r>
          </a:p>
          <a:p>
            <a:pPr algn="l">
              <a:spcBef>
                <a:spcPts val="300"/>
              </a:spcBef>
              <a:spcAft>
                <a:spcPts val="300"/>
              </a:spcAft>
            </a:pPr>
            <a:r>
              <a:rPr sz="950" b="0" i="0">
                <a:solidFill>
                  <a:srgbClr val="2C2C2C"/>
                </a:solidFill>
              </a:rPr>
              <a:t>•  Compliance enforced architecturally at column level via ABAC</a:t>
            </a:r>
          </a:p>
          <a:p>
            <a:pPr algn="l">
              <a:spcBef>
                <a:spcPts val="300"/>
              </a:spcBef>
              <a:spcAft>
                <a:spcPts val="300"/>
              </a:spcAft>
            </a:pPr>
            <a:r>
              <a:rPr sz="950" b="0" i="0">
                <a:solidFill>
                  <a:srgbClr val="2C2C2C"/>
                </a:solidFill>
              </a:rPr>
              <a:t>•  Certified data products with quality contracts and SLAs</a:t>
            </a:r>
          </a:p>
          <a:p>
            <a:pPr algn="l">
              <a:spcBef>
                <a:spcPts val="300"/>
              </a:spcBef>
              <a:spcAft>
                <a:spcPts val="300"/>
              </a:spcAft>
            </a:pPr>
            <a:r>
              <a:rPr sz="950" b="0" i="0">
                <a:solidFill>
                  <a:srgbClr val="2C2C2C"/>
                </a:solidFill>
              </a:rPr>
              <a:t>•  Analytics and AI governed from experiment through to production</a:t>
            </a:r>
          </a:p>
        </p:txBody>
      </p:sp>
      <p:sp>
        <p:nvSpPr>
          <p:cNvPr id="21" name="Rectangle 20"/>
          <p:cNvSpPr/>
          <p:nvPr/>
        </p:nvSpPr>
        <p:spPr>
          <a:xfrm>
            <a:off x="6044880" y="2706424"/>
            <a:ext cx="2824800" cy="3842976"/>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44880" y="2706424"/>
            <a:ext cx="2824800" cy="310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4608" y="2776424"/>
            <a:ext cx="2605344" cy="200000"/>
          </a:xfrm>
          <a:prstGeom prst="rect">
            <a:avLst/>
          </a:prstGeom>
          <a:noFill/>
        </p:spPr>
        <p:txBody>
          <a:bodyPr wrap="square">
            <a:spAutoFit/>
          </a:bodyPr>
          <a:lstStyle/>
          <a:p>
            <a:pPr algn="l"/>
            <a:r>
              <a:rPr sz="1100" b="1" i="0">
                <a:solidFill>
                  <a:srgbClr val="FFFFFF"/>
                </a:solidFill>
              </a:rPr>
              <a:t>How EDAP Delivers</a:t>
            </a:r>
          </a:p>
        </p:txBody>
      </p:sp>
      <p:sp>
        <p:nvSpPr>
          <p:cNvPr id="24" name="TextBox 23"/>
          <p:cNvSpPr txBox="1"/>
          <p:nvPr/>
        </p:nvSpPr>
        <p:spPr>
          <a:xfrm>
            <a:off x="6154608" y="3076424"/>
            <a:ext cx="2605344" cy="3422976"/>
          </a:xfrm>
          <a:prstGeom prst="rect">
            <a:avLst/>
          </a:prstGeom>
          <a:noFill/>
        </p:spPr>
        <p:txBody>
          <a:bodyPr wrap="square">
            <a:spAutoFit/>
          </a:bodyPr>
          <a:lstStyle/>
          <a:p>
            <a:pPr algn="l">
              <a:spcAft>
                <a:spcPts val="300"/>
              </a:spcAft>
            </a:pPr>
            <a:r>
              <a:rPr sz="950" b="0" i="0">
                <a:solidFill>
                  <a:srgbClr val="2C2C2C"/>
                </a:solidFill>
              </a:rPr>
              <a:t>•  Databricks lakehouse + Unity Catalog across Dev / Test / Prod</a:t>
            </a:r>
          </a:p>
          <a:p>
            <a:pPr algn="l">
              <a:spcBef>
                <a:spcPts val="300"/>
              </a:spcBef>
              <a:spcAft>
                <a:spcPts val="300"/>
              </a:spcAft>
            </a:pPr>
            <a:r>
              <a:rPr sz="950" b="0" i="0">
                <a:solidFill>
                  <a:srgbClr val="2C2C2C"/>
                </a:solidFill>
              </a:rPr>
              <a:t>•  Medallion architecture — 10 structured zones from landing to gold</a:t>
            </a:r>
          </a:p>
          <a:p>
            <a:pPr algn="l">
              <a:spcBef>
                <a:spcPts val="300"/>
              </a:spcBef>
              <a:spcAft>
                <a:spcPts val="300"/>
              </a:spcAft>
            </a:pPr>
            <a:r>
              <a:rPr sz="950" b="0" i="0">
                <a:solidFill>
                  <a:srgbClr val="2C2C2C"/>
                </a:solidFill>
              </a:rPr>
              <a:t>•  4-layer tagging: WAICP → sensitivity → access → operational metadata</a:t>
            </a:r>
          </a:p>
          <a:p>
            <a:pPr algn="l">
              <a:spcBef>
                <a:spcPts val="300"/>
              </a:spcBef>
              <a:spcAft>
                <a:spcPts val="300"/>
              </a:spcAft>
            </a:pPr>
            <a:r>
              <a:rPr sz="950" b="0" i="0">
                <a:solidFill>
                  <a:srgbClr val="2C2C2C"/>
                </a:solidFill>
              </a:rPr>
              <a:t>•  9 epics, 95 features, SAFe PI delivery cadence</a:t>
            </a:r>
          </a:p>
          <a:p>
            <a:pPr algn="l">
              <a:spcBef>
                <a:spcPts val="300"/>
              </a:spcBef>
              <a:spcAft>
                <a:spcPts val="300"/>
              </a:spcAft>
            </a:pPr>
            <a:r>
              <a:rPr sz="950" b="0" i="0">
                <a:solidFill>
                  <a:srgbClr val="2C2C2C"/>
                </a:solidFill>
              </a:rPr>
              <a:t>•  WC engineers certified, embedded, and self-sufficient at close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9144000" cy="54864"/>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9144000" cy="228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8595360" cy="503000"/>
          </a:xfrm>
          <a:prstGeom prst="rect">
            <a:avLst/>
          </a:prstGeom>
          <a:noFill/>
        </p:spPr>
        <p:txBody>
          <a:bodyPr wrap="square">
            <a:spAutoFit/>
          </a:bodyPr>
          <a:lstStyle/>
          <a:p>
            <a:pPr algn="l"/>
            <a:r>
              <a:rPr sz="2200" b="1" i="0">
                <a:solidFill>
                  <a:srgbClr val="FFFFFF"/>
                </a:solidFill>
              </a:rPr>
              <a:t>Program Strategic Themes</a:t>
            </a:r>
          </a:p>
        </p:txBody>
      </p:sp>
      <p:sp>
        <p:nvSpPr>
          <p:cNvPr id="6" name="TextBox 5"/>
          <p:cNvSpPr txBox="1"/>
          <p:nvPr/>
        </p:nvSpPr>
        <p:spPr>
          <a:xfrm>
            <a:off x="274320" y="619000"/>
            <a:ext cx="8595360" cy="380000"/>
          </a:xfrm>
          <a:prstGeom prst="rect">
            <a:avLst/>
          </a:prstGeom>
          <a:noFill/>
        </p:spPr>
        <p:txBody>
          <a:bodyPr wrap="square">
            <a:spAutoFit/>
          </a:bodyPr>
          <a:lstStyle/>
          <a:p>
            <a:pPr algn="l"/>
            <a:r>
              <a:rPr sz="1100" b="0" i="0">
                <a:solidFill>
                  <a:srgbClr val="B0C8E0"/>
                </a:solidFill>
              </a:rPr>
              <a:t>Five themes that define what the EDAP Programme delivers for Water Corporation</a:t>
            </a:r>
          </a:p>
        </p:txBody>
      </p:sp>
      <p:sp>
        <p:nvSpPr>
          <p:cNvPr id="7" name="TextBox 6"/>
          <p:cNvSpPr txBox="1"/>
          <p:nvPr/>
        </p:nvSpPr>
        <p:spPr>
          <a:xfrm>
            <a:off x="274320" y="6674400"/>
            <a:ext cx="6858000" cy="180000"/>
          </a:xfrm>
          <a:prstGeom prst="rect">
            <a:avLst/>
          </a:prstGeom>
          <a:noFill/>
        </p:spPr>
        <p:txBody>
          <a:bodyPr wrap="square">
            <a:spAutoFit/>
          </a:bodyPr>
          <a:lstStyle/>
          <a:p>
            <a:pPr algn="l"/>
            <a:r>
              <a:rPr sz="800" b="0" i="0">
                <a:solidFill>
                  <a:srgbClr val="B0C8E0"/>
                </a:solidFill>
              </a:rPr>
              <a:t>Water Corporation  |  EDAP Programme  |  March 2026</a:t>
            </a:r>
          </a:p>
        </p:txBody>
      </p:sp>
      <p:sp>
        <p:nvSpPr>
          <p:cNvPr id="8" name="TextBox 7"/>
          <p:cNvSpPr txBox="1"/>
          <p:nvPr/>
        </p:nvSpPr>
        <p:spPr>
          <a:xfrm>
            <a:off x="8319680" y="6674400"/>
            <a:ext cx="550000" cy="180000"/>
          </a:xfrm>
          <a:prstGeom prst="rect">
            <a:avLst/>
          </a:prstGeom>
          <a:noFill/>
        </p:spPr>
        <p:txBody>
          <a:bodyPr wrap="square">
            <a:spAutoFit/>
          </a:bodyPr>
          <a:lstStyle/>
          <a:p>
            <a:pPr algn="r"/>
            <a:r>
              <a:rPr sz="800" b="0" i="0">
                <a:solidFill>
                  <a:srgbClr val="B0C8E0"/>
                </a:solidFill>
              </a:rPr>
              <a:t>2 / 4</a:t>
            </a:r>
          </a:p>
        </p:txBody>
      </p:sp>
      <p:sp>
        <p:nvSpPr>
          <p:cNvPr id="9" name="TextBox 8"/>
          <p:cNvSpPr txBox="1"/>
          <p:nvPr/>
        </p:nvSpPr>
        <p:spPr>
          <a:xfrm>
            <a:off x="274320" y="1196424"/>
            <a:ext cx="8595360" cy="260000"/>
          </a:xfrm>
          <a:prstGeom prst="rect">
            <a:avLst/>
          </a:prstGeom>
          <a:noFill/>
        </p:spPr>
        <p:txBody>
          <a:bodyPr wrap="square">
            <a:spAutoFit/>
          </a:bodyPr>
          <a:lstStyle/>
          <a:p>
            <a:pPr algn="l"/>
            <a:r>
              <a:rPr sz="1050" b="0" i="1">
                <a:solidFill>
                  <a:srgbClr val="2C2C2C"/>
                </a:solidFill>
              </a:rPr>
              <a:t>Each theme maps directly to one or more delivery epics. Together they describe the transformation EDAP is contracted to deliver.</a:t>
            </a:r>
          </a:p>
        </p:txBody>
      </p:sp>
      <p:sp>
        <p:nvSpPr>
          <p:cNvPr id="10" name="Rectangle 9"/>
          <p:cNvSpPr/>
          <p:nvPr/>
        </p:nvSpPr>
        <p:spPr>
          <a:xfrm>
            <a:off x="274320" y="1466424"/>
            <a:ext cx="8595360" cy="84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66424"/>
            <a:ext cx="1620000" cy="84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46424"/>
            <a:ext cx="400000" cy="310000"/>
          </a:xfrm>
          <a:prstGeom prst="rect">
            <a:avLst/>
          </a:prstGeom>
          <a:noFill/>
        </p:spPr>
        <p:txBody>
          <a:bodyPr wrap="square">
            <a:spAutoFit/>
          </a:bodyPr>
          <a:lstStyle/>
          <a:p>
            <a:pPr algn="l"/>
            <a:r>
              <a:rPr sz="2200" b="1" i="0">
                <a:solidFill>
                  <a:srgbClr val="006E8C"/>
                </a:solidFill>
              </a:rPr>
              <a:t>01</a:t>
            </a:r>
          </a:p>
        </p:txBody>
      </p:sp>
      <p:sp>
        <p:nvSpPr>
          <p:cNvPr id="13" name="TextBox 12"/>
          <p:cNvSpPr txBox="1"/>
          <p:nvPr/>
        </p:nvSpPr>
        <p:spPr>
          <a:xfrm>
            <a:off x="384048" y="1866424"/>
            <a:ext cx="1400544" cy="300000"/>
          </a:xfrm>
          <a:prstGeom prst="rect">
            <a:avLst/>
          </a:prstGeom>
          <a:noFill/>
        </p:spPr>
        <p:txBody>
          <a:bodyPr wrap="square">
            <a:spAutoFit/>
          </a:bodyPr>
          <a:lstStyle/>
          <a:p>
            <a:pPr algn="l"/>
            <a:r>
              <a:rPr sz="1050" b="1" i="0">
                <a:solidFill>
                  <a:srgbClr val="B0C8E0"/>
                </a:solidFill>
              </a:rPr>
              <a:t>Trusted Data Foundation</a:t>
            </a:r>
          </a:p>
        </p:txBody>
      </p:sp>
      <p:sp>
        <p:nvSpPr>
          <p:cNvPr id="14" name="TextBox 13"/>
          <p:cNvSpPr txBox="1"/>
          <p:nvPr/>
        </p:nvSpPr>
        <p:spPr>
          <a:xfrm>
            <a:off x="384048" y="2111424"/>
            <a:ext cx="1400544" cy="170000"/>
          </a:xfrm>
          <a:prstGeom prst="rect">
            <a:avLst/>
          </a:prstGeom>
          <a:noFill/>
        </p:spPr>
        <p:txBody>
          <a:bodyPr wrap="square">
            <a:spAutoFit/>
          </a:bodyPr>
          <a:lstStyle/>
          <a:p>
            <a:pPr algn="l"/>
            <a:r>
              <a:rPr sz="850" b="0" i="0">
                <a:solidFill>
                  <a:srgbClr val="006E8C"/>
                </a:solidFill>
              </a:rPr>
              <a:t>Epics: E1 · E2 · E3</a:t>
            </a:r>
          </a:p>
        </p:txBody>
      </p:sp>
      <p:sp>
        <p:nvSpPr>
          <p:cNvPr id="15" name="TextBox 14"/>
          <p:cNvSpPr txBox="1"/>
          <p:nvPr/>
        </p:nvSpPr>
        <p:spPr>
          <a:xfrm>
            <a:off x="2004048" y="1554206"/>
            <a:ext cx="6755904" cy="664436"/>
          </a:xfrm>
          <a:prstGeom prst="rect">
            <a:avLst/>
          </a:prstGeom>
          <a:noFill/>
        </p:spPr>
        <p:txBody>
          <a:bodyPr wrap="square">
            <a:spAutoFit/>
          </a:bodyPr>
          <a:lstStyle/>
          <a:p>
            <a:pPr algn="l"/>
            <a:r>
              <a:rPr sz="950" b="0" i="0">
                <a:solidFill>
                  <a:srgbClr val="2C2C2C"/>
                </a:solidFill>
              </a:rPr>
              <a:t>Build and operationalise a single governed lakehouse platform — replacing four fragmented pipeline technologies with a metadata-driven framework on Databricks. Medallion architecture across 10 structured zones, Unity Catalog for access governance, and certified data products with contractual quality guarantees.</a:t>
            </a:r>
          </a:p>
        </p:txBody>
      </p:sp>
      <p:sp>
        <p:nvSpPr>
          <p:cNvPr id="16" name="Rectangle 15"/>
          <p:cNvSpPr/>
          <p:nvPr/>
        </p:nvSpPr>
        <p:spPr>
          <a:xfrm>
            <a:off x="274320" y="2358424"/>
            <a:ext cx="8595360" cy="84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358424"/>
            <a:ext cx="1620000" cy="84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438424"/>
            <a:ext cx="400000" cy="310000"/>
          </a:xfrm>
          <a:prstGeom prst="rect">
            <a:avLst/>
          </a:prstGeom>
          <a:noFill/>
        </p:spPr>
        <p:txBody>
          <a:bodyPr wrap="square">
            <a:spAutoFit/>
          </a:bodyPr>
          <a:lstStyle/>
          <a:p>
            <a:pPr algn="l"/>
            <a:r>
              <a:rPr sz="2200" b="1" i="0">
                <a:solidFill>
                  <a:srgbClr val="006E8C"/>
                </a:solidFill>
              </a:rPr>
              <a:t>02</a:t>
            </a:r>
          </a:p>
        </p:txBody>
      </p:sp>
      <p:sp>
        <p:nvSpPr>
          <p:cNvPr id="19" name="TextBox 18"/>
          <p:cNvSpPr txBox="1"/>
          <p:nvPr/>
        </p:nvSpPr>
        <p:spPr>
          <a:xfrm>
            <a:off x="384048" y="2758424"/>
            <a:ext cx="1400544" cy="300000"/>
          </a:xfrm>
          <a:prstGeom prst="rect">
            <a:avLst/>
          </a:prstGeom>
          <a:noFill/>
        </p:spPr>
        <p:txBody>
          <a:bodyPr wrap="square">
            <a:spAutoFit/>
          </a:bodyPr>
          <a:lstStyle/>
          <a:p>
            <a:pPr algn="l"/>
            <a:r>
              <a:rPr sz="1050" b="1" i="0">
                <a:solidFill>
                  <a:srgbClr val="B0C8E0"/>
                </a:solidFill>
              </a:rPr>
              <a:t>Compliance by Design</a:t>
            </a:r>
          </a:p>
        </p:txBody>
      </p:sp>
      <p:sp>
        <p:nvSpPr>
          <p:cNvPr id="20" name="TextBox 19"/>
          <p:cNvSpPr txBox="1"/>
          <p:nvPr/>
        </p:nvSpPr>
        <p:spPr>
          <a:xfrm>
            <a:off x="384048" y="3003424"/>
            <a:ext cx="1400544" cy="170000"/>
          </a:xfrm>
          <a:prstGeom prst="rect">
            <a:avLst/>
          </a:prstGeom>
          <a:noFill/>
        </p:spPr>
        <p:txBody>
          <a:bodyPr wrap="square">
            <a:spAutoFit/>
          </a:bodyPr>
          <a:lstStyle/>
          <a:p>
            <a:pPr algn="l"/>
            <a:r>
              <a:rPr sz="850" b="0" i="0">
                <a:solidFill>
                  <a:srgbClr val="006E8C"/>
                </a:solidFill>
              </a:rPr>
              <a:t>Epics: E4</a:t>
            </a:r>
          </a:p>
        </p:txBody>
      </p:sp>
      <p:sp>
        <p:nvSpPr>
          <p:cNvPr id="21" name="TextBox 20"/>
          <p:cNvSpPr txBox="1"/>
          <p:nvPr/>
        </p:nvSpPr>
        <p:spPr>
          <a:xfrm>
            <a:off x="2004048" y="2446206"/>
            <a:ext cx="6755904" cy="664436"/>
          </a:xfrm>
          <a:prstGeom prst="rect">
            <a:avLst/>
          </a:prstGeom>
          <a:noFill/>
        </p:spPr>
        <p:txBody>
          <a:bodyPr wrap="square">
            <a:spAutoFit/>
          </a:bodyPr>
          <a:lstStyle/>
          <a:p>
            <a:pPr algn="l"/>
            <a:r>
              <a:rPr sz="950" b="0" i="0">
                <a:solidFill>
                  <a:srgbClr val="2C2C2C"/>
                </a:solidFill>
              </a:rPr>
              <a:t>Embed regulatory compliance architecturally rather than managing it manually. WAICP, PRIS Act 2024, SOCI Act 2018, and State Records Act obligations enforced through tag-driven attribute-based access control (ABAC) and complete audit trails in Unity Catalog — demonstrable on demand.</a:t>
            </a:r>
          </a:p>
        </p:txBody>
      </p:sp>
      <p:sp>
        <p:nvSpPr>
          <p:cNvPr id="22" name="Rectangle 21"/>
          <p:cNvSpPr/>
          <p:nvPr/>
        </p:nvSpPr>
        <p:spPr>
          <a:xfrm>
            <a:off x="274320" y="3250424"/>
            <a:ext cx="8595360" cy="84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250424"/>
            <a:ext cx="1620000" cy="84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3330424"/>
            <a:ext cx="400000" cy="310000"/>
          </a:xfrm>
          <a:prstGeom prst="rect">
            <a:avLst/>
          </a:prstGeom>
          <a:noFill/>
        </p:spPr>
        <p:txBody>
          <a:bodyPr wrap="square">
            <a:spAutoFit/>
          </a:bodyPr>
          <a:lstStyle/>
          <a:p>
            <a:pPr algn="l"/>
            <a:r>
              <a:rPr sz="2200" b="1" i="0">
                <a:solidFill>
                  <a:srgbClr val="006E8C"/>
                </a:solidFill>
              </a:rPr>
              <a:t>03</a:t>
            </a:r>
          </a:p>
        </p:txBody>
      </p:sp>
      <p:sp>
        <p:nvSpPr>
          <p:cNvPr id="25" name="TextBox 24"/>
          <p:cNvSpPr txBox="1"/>
          <p:nvPr/>
        </p:nvSpPr>
        <p:spPr>
          <a:xfrm>
            <a:off x="384048" y="3650424"/>
            <a:ext cx="1400544" cy="300000"/>
          </a:xfrm>
          <a:prstGeom prst="rect">
            <a:avLst/>
          </a:prstGeom>
          <a:noFill/>
        </p:spPr>
        <p:txBody>
          <a:bodyPr wrap="square">
            <a:spAutoFit/>
          </a:bodyPr>
          <a:lstStyle/>
          <a:p>
            <a:pPr algn="l"/>
            <a:r>
              <a:rPr sz="1050" b="1" i="0">
                <a:solidFill>
                  <a:srgbClr val="B0C8E0"/>
                </a:solidFill>
              </a:rPr>
              <a:t>Discoverable and Liquid Data</a:t>
            </a:r>
          </a:p>
        </p:txBody>
      </p:sp>
      <p:sp>
        <p:nvSpPr>
          <p:cNvPr id="26" name="TextBox 25"/>
          <p:cNvSpPr txBox="1"/>
          <p:nvPr/>
        </p:nvSpPr>
        <p:spPr>
          <a:xfrm>
            <a:off x="384048" y="3895424"/>
            <a:ext cx="1400544" cy="170000"/>
          </a:xfrm>
          <a:prstGeom prst="rect">
            <a:avLst/>
          </a:prstGeom>
          <a:noFill/>
        </p:spPr>
        <p:txBody>
          <a:bodyPr wrap="square">
            <a:spAutoFit/>
          </a:bodyPr>
          <a:lstStyle/>
          <a:p>
            <a:pPr algn="l"/>
            <a:r>
              <a:rPr sz="850" b="0" i="0">
                <a:solidFill>
                  <a:srgbClr val="006E8C"/>
                </a:solidFill>
              </a:rPr>
              <a:t>Epics: E3 · E6</a:t>
            </a:r>
          </a:p>
        </p:txBody>
      </p:sp>
      <p:sp>
        <p:nvSpPr>
          <p:cNvPr id="27" name="TextBox 26"/>
          <p:cNvSpPr txBox="1"/>
          <p:nvPr/>
        </p:nvSpPr>
        <p:spPr>
          <a:xfrm>
            <a:off x="2004048" y="3338206"/>
            <a:ext cx="6755904" cy="664436"/>
          </a:xfrm>
          <a:prstGeom prst="rect">
            <a:avLst/>
          </a:prstGeom>
          <a:noFill/>
        </p:spPr>
        <p:txBody>
          <a:bodyPr wrap="square">
            <a:spAutoFit/>
          </a:bodyPr>
          <a:lstStyle/>
          <a:p>
            <a:pPr algn="l"/>
            <a:r>
              <a:rPr sz="950" b="0" i="0">
                <a:solidFill>
                  <a:srgbClr val="2C2C2C"/>
                </a:solidFill>
              </a:rPr>
              <a:t>Make every data asset across all seven domains findable in Alation with full lineage from source through to Gold. Metadata stays current automatically via the OCF connector. Domain teams access and share data through governed, configuration-driven interfaces — not platform tickets.</a:t>
            </a:r>
          </a:p>
        </p:txBody>
      </p:sp>
      <p:sp>
        <p:nvSpPr>
          <p:cNvPr id="28" name="Rectangle 27"/>
          <p:cNvSpPr/>
          <p:nvPr/>
        </p:nvSpPr>
        <p:spPr>
          <a:xfrm>
            <a:off x="274320" y="4142424"/>
            <a:ext cx="8595360" cy="84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142424"/>
            <a:ext cx="1620000" cy="84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222424"/>
            <a:ext cx="400000" cy="310000"/>
          </a:xfrm>
          <a:prstGeom prst="rect">
            <a:avLst/>
          </a:prstGeom>
          <a:noFill/>
        </p:spPr>
        <p:txBody>
          <a:bodyPr wrap="square">
            <a:spAutoFit/>
          </a:bodyPr>
          <a:lstStyle/>
          <a:p>
            <a:pPr algn="l"/>
            <a:r>
              <a:rPr sz="2200" b="1" i="0">
                <a:solidFill>
                  <a:srgbClr val="006E8C"/>
                </a:solidFill>
              </a:rPr>
              <a:t>04</a:t>
            </a:r>
          </a:p>
        </p:txBody>
      </p:sp>
      <p:sp>
        <p:nvSpPr>
          <p:cNvPr id="31" name="TextBox 30"/>
          <p:cNvSpPr txBox="1"/>
          <p:nvPr/>
        </p:nvSpPr>
        <p:spPr>
          <a:xfrm>
            <a:off x="384048" y="4542424"/>
            <a:ext cx="1400544" cy="300000"/>
          </a:xfrm>
          <a:prstGeom prst="rect">
            <a:avLst/>
          </a:prstGeom>
          <a:noFill/>
        </p:spPr>
        <p:txBody>
          <a:bodyPr wrap="square">
            <a:spAutoFit/>
          </a:bodyPr>
          <a:lstStyle/>
          <a:p>
            <a:pPr algn="l"/>
            <a:r>
              <a:rPr sz="1050" b="1" i="0">
                <a:solidFill>
                  <a:srgbClr val="B0C8E0"/>
                </a:solidFill>
              </a:rPr>
              <a:t>Intelligence at Scale</a:t>
            </a:r>
          </a:p>
        </p:txBody>
      </p:sp>
      <p:sp>
        <p:nvSpPr>
          <p:cNvPr id="32" name="TextBox 31"/>
          <p:cNvSpPr txBox="1"/>
          <p:nvPr/>
        </p:nvSpPr>
        <p:spPr>
          <a:xfrm>
            <a:off x="384048" y="4787424"/>
            <a:ext cx="1400544" cy="170000"/>
          </a:xfrm>
          <a:prstGeom prst="rect">
            <a:avLst/>
          </a:prstGeom>
          <a:noFill/>
        </p:spPr>
        <p:txBody>
          <a:bodyPr wrap="square">
            <a:spAutoFit/>
          </a:bodyPr>
          <a:lstStyle/>
          <a:p>
            <a:pPr algn="l"/>
            <a:r>
              <a:rPr sz="850" b="0" i="0">
                <a:solidFill>
                  <a:srgbClr val="006E8C"/>
                </a:solidFill>
              </a:rPr>
              <a:t>Epics: E7 · E8</a:t>
            </a:r>
          </a:p>
        </p:txBody>
      </p:sp>
      <p:sp>
        <p:nvSpPr>
          <p:cNvPr id="33" name="TextBox 32"/>
          <p:cNvSpPr txBox="1"/>
          <p:nvPr/>
        </p:nvSpPr>
        <p:spPr>
          <a:xfrm>
            <a:off x="2004048" y="4230206"/>
            <a:ext cx="6755904" cy="664436"/>
          </a:xfrm>
          <a:prstGeom prst="rect">
            <a:avLst/>
          </a:prstGeom>
          <a:noFill/>
        </p:spPr>
        <p:txBody>
          <a:bodyPr wrap="square">
            <a:spAutoFit/>
          </a:bodyPr>
          <a:lstStyle/>
          <a:p>
            <a:pPr algn="l"/>
            <a:r>
              <a:rPr sz="950" b="0" i="0">
                <a:solidFill>
                  <a:srgbClr val="2C2C2C"/>
                </a:solidFill>
              </a:rPr>
              <a:t>Enable the full ML lifecycle on EDAP — experiment, train, register, deploy, and monitor models with governance from day one. Document and prove clear migration pathways from legacy platforms (Glue, ADF, SAP DS, SageMaker) so legacy workloads have a costed, proven path forward.</a:t>
            </a:r>
          </a:p>
        </p:txBody>
      </p:sp>
      <p:sp>
        <p:nvSpPr>
          <p:cNvPr id="34" name="Rectangle 33"/>
          <p:cNvSpPr/>
          <p:nvPr/>
        </p:nvSpPr>
        <p:spPr>
          <a:xfrm>
            <a:off x="274320" y="5034424"/>
            <a:ext cx="8595360" cy="84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5034424"/>
            <a:ext cx="1620000" cy="84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 y="5114424"/>
            <a:ext cx="400000" cy="310000"/>
          </a:xfrm>
          <a:prstGeom prst="rect">
            <a:avLst/>
          </a:prstGeom>
          <a:noFill/>
        </p:spPr>
        <p:txBody>
          <a:bodyPr wrap="square">
            <a:spAutoFit/>
          </a:bodyPr>
          <a:lstStyle/>
          <a:p>
            <a:pPr algn="l"/>
            <a:r>
              <a:rPr sz="2200" b="1" i="0">
                <a:solidFill>
                  <a:srgbClr val="006E8C"/>
                </a:solidFill>
              </a:rPr>
              <a:t>05</a:t>
            </a:r>
          </a:p>
        </p:txBody>
      </p:sp>
      <p:sp>
        <p:nvSpPr>
          <p:cNvPr id="37" name="TextBox 36"/>
          <p:cNvSpPr txBox="1"/>
          <p:nvPr/>
        </p:nvSpPr>
        <p:spPr>
          <a:xfrm>
            <a:off x="384048" y="5434424"/>
            <a:ext cx="1400544" cy="300000"/>
          </a:xfrm>
          <a:prstGeom prst="rect">
            <a:avLst/>
          </a:prstGeom>
          <a:noFill/>
        </p:spPr>
        <p:txBody>
          <a:bodyPr wrap="square">
            <a:spAutoFit/>
          </a:bodyPr>
          <a:lstStyle/>
          <a:p>
            <a:pPr algn="l"/>
            <a:r>
              <a:rPr sz="1050" b="1" i="0">
                <a:solidFill>
                  <a:srgbClr val="B0C8E0"/>
                </a:solidFill>
              </a:rPr>
              <a:t>Enduring Capability</a:t>
            </a:r>
          </a:p>
        </p:txBody>
      </p:sp>
      <p:sp>
        <p:nvSpPr>
          <p:cNvPr id="38" name="TextBox 37"/>
          <p:cNvSpPr txBox="1"/>
          <p:nvPr/>
        </p:nvSpPr>
        <p:spPr>
          <a:xfrm>
            <a:off x="384048" y="5679424"/>
            <a:ext cx="1400544" cy="170000"/>
          </a:xfrm>
          <a:prstGeom prst="rect">
            <a:avLst/>
          </a:prstGeom>
          <a:noFill/>
        </p:spPr>
        <p:txBody>
          <a:bodyPr wrap="square">
            <a:spAutoFit/>
          </a:bodyPr>
          <a:lstStyle/>
          <a:p>
            <a:pPr algn="l"/>
            <a:r>
              <a:rPr sz="850" b="0" i="0">
                <a:solidFill>
                  <a:srgbClr val="006E8C"/>
                </a:solidFill>
              </a:rPr>
              <a:t>Epics: E5 · E9</a:t>
            </a:r>
          </a:p>
        </p:txBody>
      </p:sp>
      <p:sp>
        <p:nvSpPr>
          <p:cNvPr id="39" name="TextBox 38"/>
          <p:cNvSpPr txBox="1"/>
          <p:nvPr/>
        </p:nvSpPr>
        <p:spPr>
          <a:xfrm>
            <a:off x="2004048" y="5122206"/>
            <a:ext cx="6755904" cy="664436"/>
          </a:xfrm>
          <a:prstGeom prst="rect">
            <a:avLst/>
          </a:prstGeom>
          <a:noFill/>
        </p:spPr>
        <p:txBody>
          <a:bodyPr wrap="square">
            <a:spAutoFit/>
          </a:bodyPr>
          <a:lstStyle/>
          <a:p>
            <a:pPr algn="l"/>
            <a:r>
              <a:rPr sz="950" b="0" i="0">
                <a:solidFill>
                  <a:srgbClr val="2C2C2C"/>
                </a:solidFill>
              </a:rPr>
              <a:t>Deliver a self-sustaining platform and a self-sufficient WC team. DataOps excellence embeds CI/CD, automated testing, and non-prod cost guardrails into every pipeline. WC engineers are Databricks-certified, embedded hands-on through delivery, and own their domains at project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9144000" cy="54864"/>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9144000" cy="228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8595360" cy="503000"/>
          </a:xfrm>
          <a:prstGeom prst="rect">
            <a:avLst/>
          </a:prstGeom>
          <a:noFill/>
        </p:spPr>
        <p:txBody>
          <a:bodyPr wrap="square">
            <a:spAutoFit/>
          </a:bodyPr>
          <a:lstStyle/>
          <a:p>
            <a:pPr algn="l"/>
            <a:r>
              <a:rPr sz="2200" b="1" i="0">
                <a:solidFill>
                  <a:srgbClr val="FFFFFF"/>
                </a:solidFill>
              </a:rPr>
              <a:t>Program Scope — Nine Epics Across the Delivery</a:t>
            </a:r>
          </a:p>
        </p:txBody>
      </p:sp>
      <p:sp>
        <p:nvSpPr>
          <p:cNvPr id="6" name="TextBox 5"/>
          <p:cNvSpPr txBox="1"/>
          <p:nvPr/>
        </p:nvSpPr>
        <p:spPr>
          <a:xfrm>
            <a:off x="274320" y="619000"/>
            <a:ext cx="8595360" cy="380000"/>
          </a:xfrm>
          <a:prstGeom prst="rect">
            <a:avLst/>
          </a:prstGeom>
          <a:noFill/>
        </p:spPr>
        <p:txBody>
          <a:bodyPr wrap="square">
            <a:spAutoFit/>
          </a:bodyPr>
          <a:lstStyle/>
          <a:p>
            <a:pPr algn="l"/>
            <a:r>
              <a:rPr sz="1100" b="0" i="0">
                <a:solidFill>
                  <a:srgbClr val="B0C8E0"/>
                </a:solidFill>
              </a:rPr>
              <a:t>95 features, sequenced foundation-first, spanning platform, governance, intelligence, and capability</a:t>
            </a:r>
          </a:p>
        </p:txBody>
      </p:sp>
      <p:sp>
        <p:nvSpPr>
          <p:cNvPr id="7" name="TextBox 6"/>
          <p:cNvSpPr txBox="1"/>
          <p:nvPr/>
        </p:nvSpPr>
        <p:spPr>
          <a:xfrm>
            <a:off x="274320" y="6674400"/>
            <a:ext cx="6858000" cy="180000"/>
          </a:xfrm>
          <a:prstGeom prst="rect">
            <a:avLst/>
          </a:prstGeom>
          <a:noFill/>
        </p:spPr>
        <p:txBody>
          <a:bodyPr wrap="square">
            <a:spAutoFit/>
          </a:bodyPr>
          <a:lstStyle/>
          <a:p>
            <a:pPr algn="l"/>
            <a:r>
              <a:rPr sz="800" b="0" i="0">
                <a:solidFill>
                  <a:srgbClr val="B0C8E0"/>
                </a:solidFill>
              </a:rPr>
              <a:t>Water Corporation  |  EDAP Programme  |  March 2026</a:t>
            </a:r>
          </a:p>
        </p:txBody>
      </p:sp>
      <p:sp>
        <p:nvSpPr>
          <p:cNvPr id="8" name="TextBox 7"/>
          <p:cNvSpPr txBox="1"/>
          <p:nvPr/>
        </p:nvSpPr>
        <p:spPr>
          <a:xfrm>
            <a:off x="8319680" y="6674400"/>
            <a:ext cx="550000" cy="180000"/>
          </a:xfrm>
          <a:prstGeom prst="rect">
            <a:avLst/>
          </a:prstGeom>
          <a:noFill/>
        </p:spPr>
        <p:txBody>
          <a:bodyPr wrap="square">
            <a:spAutoFit/>
          </a:bodyPr>
          <a:lstStyle/>
          <a:p>
            <a:pPr algn="r"/>
            <a:r>
              <a:rPr sz="800" b="0" i="0">
                <a:solidFill>
                  <a:srgbClr val="B0C8E0"/>
                </a:solidFill>
              </a:rPr>
              <a:t>3 / 4</a:t>
            </a:r>
          </a:p>
        </p:txBody>
      </p:sp>
      <p:sp>
        <p:nvSpPr>
          <p:cNvPr id="9" name="TextBox 8"/>
          <p:cNvSpPr txBox="1"/>
          <p:nvPr/>
        </p:nvSpPr>
        <p:spPr>
          <a:xfrm>
            <a:off x="274320" y="1196424"/>
            <a:ext cx="8595360" cy="260000"/>
          </a:xfrm>
          <a:prstGeom prst="rect">
            <a:avLst/>
          </a:prstGeom>
          <a:noFill/>
        </p:spPr>
        <p:txBody>
          <a:bodyPr wrap="square">
            <a:spAutoFit/>
          </a:bodyPr>
          <a:lstStyle/>
          <a:p>
            <a:pPr algn="l"/>
            <a:r>
              <a:rPr sz="1050" b="0" i="1">
                <a:solidFill>
                  <a:srgbClr val="2C2C2C"/>
                </a:solidFill>
              </a:rPr>
              <a:t>The nine epics are ordered architectural layers, not independent workstreams. E1 is the foundation for all that follows. E9 runs in parallel throughout delivery.</a:t>
            </a:r>
          </a:p>
        </p:txBody>
      </p:sp>
      <p:sp>
        <p:nvSpPr>
          <p:cNvPr id="10" name="Rectangle 9"/>
          <p:cNvSpPr/>
          <p:nvPr/>
        </p:nvSpPr>
        <p:spPr>
          <a:xfrm>
            <a:off x="274320" y="1476424"/>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76424"/>
            <a:ext cx="2828453" cy="265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24424"/>
            <a:ext cx="2308997" cy="200000"/>
          </a:xfrm>
          <a:prstGeom prst="rect">
            <a:avLst/>
          </a:prstGeom>
          <a:noFill/>
        </p:spPr>
        <p:txBody>
          <a:bodyPr wrap="square">
            <a:spAutoFit/>
          </a:bodyPr>
          <a:lstStyle/>
          <a:p>
            <a:pPr algn="l"/>
            <a:r>
              <a:rPr sz="1050" b="1" i="0">
                <a:solidFill>
                  <a:srgbClr val="FFFFFF"/>
                </a:solidFill>
              </a:rPr>
              <a:t>E1  Platform Foundation</a:t>
            </a:r>
          </a:p>
        </p:txBody>
      </p:sp>
      <p:sp>
        <p:nvSpPr>
          <p:cNvPr id="13" name="TextBox 12"/>
          <p:cNvSpPr txBox="1"/>
          <p:nvPr/>
        </p:nvSpPr>
        <p:spPr>
          <a:xfrm>
            <a:off x="2613045" y="1546424"/>
            <a:ext cx="380000" cy="160000"/>
          </a:xfrm>
          <a:prstGeom prst="rect">
            <a:avLst/>
          </a:prstGeom>
          <a:noFill/>
        </p:spPr>
        <p:txBody>
          <a:bodyPr wrap="square">
            <a:spAutoFit/>
          </a:bodyPr>
          <a:lstStyle/>
          <a:p>
            <a:pPr algn="r"/>
            <a:r>
              <a:rPr sz="850" b="0" i="0">
                <a:solidFill>
                  <a:srgbClr val="B0C8E0"/>
                </a:solidFill>
              </a:rPr>
              <a:t>19 features</a:t>
            </a:r>
          </a:p>
        </p:txBody>
      </p:sp>
      <p:sp>
        <p:nvSpPr>
          <p:cNvPr id="14" name="TextBox 13"/>
          <p:cNvSpPr txBox="1"/>
          <p:nvPr/>
        </p:nvSpPr>
        <p:spPr>
          <a:xfrm>
            <a:off x="384048" y="1801424"/>
            <a:ext cx="2608997" cy="1295992"/>
          </a:xfrm>
          <a:prstGeom prst="rect">
            <a:avLst/>
          </a:prstGeom>
          <a:noFill/>
        </p:spPr>
        <p:txBody>
          <a:bodyPr wrap="square">
            <a:spAutoFit/>
          </a:bodyPr>
          <a:lstStyle/>
          <a:p>
            <a:pPr algn="l"/>
            <a:r>
              <a:rPr sz="950" b="0" i="0">
                <a:solidFill>
                  <a:srgbClr val="2C2C2C"/>
                </a:solidFill>
              </a:rPr>
              <a:t>EDAP environments operational, governed, and ready for development — the foundation everything else depends on</a:t>
            </a:r>
          </a:p>
        </p:txBody>
      </p:sp>
      <p:sp>
        <p:nvSpPr>
          <p:cNvPr id="15" name="Rectangle 14"/>
          <p:cNvSpPr/>
          <p:nvPr/>
        </p:nvSpPr>
        <p:spPr>
          <a:xfrm>
            <a:off x="3157773" y="1476424"/>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57773" y="1476424"/>
            <a:ext cx="2828453" cy="265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7501" y="1524424"/>
            <a:ext cx="2308997" cy="200000"/>
          </a:xfrm>
          <a:prstGeom prst="rect">
            <a:avLst/>
          </a:prstGeom>
          <a:noFill/>
        </p:spPr>
        <p:txBody>
          <a:bodyPr wrap="square">
            <a:spAutoFit/>
          </a:bodyPr>
          <a:lstStyle/>
          <a:p>
            <a:pPr algn="l"/>
            <a:r>
              <a:rPr sz="1050" b="1" i="0">
                <a:solidFill>
                  <a:srgbClr val="FFFFFF"/>
                </a:solidFill>
              </a:rPr>
              <a:t>E2  Data Ingestion &amp; Integration</a:t>
            </a:r>
          </a:p>
        </p:txBody>
      </p:sp>
      <p:sp>
        <p:nvSpPr>
          <p:cNvPr id="18" name="TextBox 17"/>
          <p:cNvSpPr txBox="1"/>
          <p:nvPr/>
        </p:nvSpPr>
        <p:spPr>
          <a:xfrm>
            <a:off x="5496498" y="1546424"/>
            <a:ext cx="380000" cy="160000"/>
          </a:xfrm>
          <a:prstGeom prst="rect">
            <a:avLst/>
          </a:prstGeom>
          <a:noFill/>
        </p:spPr>
        <p:txBody>
          <a:bodyPr wrap="square">
            <a:spAutoFit/>
          </a:bodyPr>
          <a:lstStyle/>
          <a:p>
            <a:pPr algn="r"/>
            <a:r>
              <a:rPr sz="850" b="0" i="0">
                <a:solidFill>
                  <a:srgbClr val="B0C8E0"/>
                </a:solidFill>
              </a:rPr>
              <a:t>14 features</a:t>
            </a:r>
          </a:p>
        </p:txBody>
      </p:sp>
      <p:sp>
        <p:nvSpPr>
          <p:cNvPr id="19" name="TextBox 18"/>
          <p:cNvSpPr txBox="1"/>
          <p:nvPr/>
        </p:nvSpPr>
        <p:spPr>
          <a:xfrm>
            <a:off x="3267501" y="1801424"/>
            <a:ext cx="2608997" cy="1295992"/>
          </a:xfrm>
          <a:prstGeom prst="rect">
            <a:avLst/>
          </a:prstGeom>
          <a:noFill/>
        </p:spPr>
        <p:txBody>
          <a:bodyPr wrap="square">
            <a:spAutoFit/>
          </a:bodyPr>
          <a:lstStyle/>
          <a:p>
            <a:pPr algn="l"/>
            <a:r>
              <a:rPr sz="950" b="0" i="0">
                <a:solidFill>
                  <a:srgbClr val="2C2C2C"/>
                </a:solidFill>
              </a:rPr>
              <a:t>Data flowing reliably from source systems into EDAP Bronze layer via batch, CDC, streaming, and file-based patterns</a:t>
            </a:r>
          </a:p>
        </p:txBody>
      </p:sp>
      <p:sp>
        <p:nvSpPr>
          <p:cNvPr id="20" name="Rectangle 19"/>
          <p:cNvSpPr/>
          <p:nvPr/>
        </p:nvSpPr>
        <p:spPr>
          <a:xfrm>
            <a:off x="6041226" y="1476424"/>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41226" y="1476424"/>
            <a:ext cx="2828453" cy="265000"/>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50954" y="1524424"/>
            <a:ext cx="2308997" cy="200000"/>
          </a:xfrm>
          <a:prstGeom prst="rect">
            <a:avLst/>
          </a:prstGeom>
          <a:noFill/>
        </p:spPr>
        <p:txBody>
          <a:bodyPr wrap="square">
            <a:spAutoFit/>
          </a:bodyPr>
          <a:lstStyle/>
          <a:p>
            <a:pPr algn="l"/>
            <a:r>
              <a:rPr sz="1050" b="1" i="0">
                <a:solidFill>
                  <a:srgbClr val="FFFFFF"/>
                </a:solidFill>
              </a:rPr>
              <a:t>E3  Transformation &amp; Data Products</a:t>
            </a:r>
          </a:p>
        </p:txBody>
      </p:sp>
      <p:sp>
        <p:nvSpPr>
          <p:cNvPr id="23" name="TextBox 22"/>
          <p:cNvSpPr txBox="1"/>
          <p:nvPr/>
        </p:nvSpPr>
        <p:spPr>
          <a:xfrm>
            <a:off x="8379951" y="1546424"/>
            <a:ext cx="380000" cy="160000"/>
          </a:xfrm>
          <a:prstGeom prst="rect">
            <a:avLst/>
          </a:prstGeom>
          <a:noFill/>
        </p:spPr>
        <p:txBody>
          <a:bodyPr wrap="square">
            <a:spAutoFit/>
          </a:bodyPr>
          <a:lstStyle/>
          <a:p>
            <a:pPr algn="r"/>
            <a:r>
              <a:rPr sz="850" b="0" i="0">
                <a:solidFill>
                  <a:srgbClr val="B0C8E0"/>
                </a:solidFill>
              </a:rPr>
              <a:t>13 features</a:t>
            </a:r>
          </a:p>
        </p:txBody>
      </p:sp>
      <p:sp>
        <p:nvSpPr>
          <p:cNvPr id="24" name="TextBox 23"/>
          <p:cNvSpPr txBox="1"/>
          <p:nvPr/>
        </p:nvSpPr>
        <p:spPr>
          <a:xfrm>
            <a:off x="6150954" y="1801424"/>
            <a:ext cx="2608997" cy="1295992"/>
          </a:xfrm>
          <a:prstGeom prst="rect">
            <a:avLst/>
          </a:prstGeom>
          <a:noFill/>
        </p:spPr>
        <p:txBody>
          <a:bodyPr wrap="square">
            <a:spAutoFit/>
          </a:bodyPr>
          <a:lstStyle/>
          <a:p>
            <a:pPr algn="l"/>
            <a:r>
              <a:rPr sz="950" b="0" i="0">
                <a:solidFill>
                  <a:srgbClr val="2C2C2C"/>
                </a:solidFill>
              </a:rPr>
              <a:t>Clean, conformed, business-ready data products in the Gold layer with dimensional models, semantic metrics, and quality contracts</a:t>
            </a:r>
          </a:p>
        </p:txBody>
      </p:sp>
      <p:sp>
        <p:nvSpPr>
          <p:cNvPr id="25" name="Rectangle 24"/>
          <p:cNvSpPr/>
          <p:nvPr/>
        </p:nvSpPr>
        <p:spPr>
          <a:xfrm>
            <a:off x="274320" y="3192416"/>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192416"/>
            <a:ext cx="2828453" cy="265000"/>
          </a:xfrm>
          <a:prstGeom prst="rect">
            <a:avLst/>
          </a:prstGeom>
          <a:solidFill>
            <a:srgbClr val="0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40416"/>
            <a:ext cx="2308997" cy="200000"/>
          </a:xfrm>
          <a:prstGeom prst="rect">
            <a:avLst/>
          </a:prstGeom>
          <a:noFill/>
        </p:spPr>
        <p:txBody>
          <a:bodyPr wrap="square">
            <a:spAutoFit/>
          </a:bodyPr>
          <a:lstStyle/>
          <a:p>
            <a:pPr algn="l"/>
            <a:r>
              <a:rPr sz="1050" b="1" i="0">
                <a:solidFill>
                  <a:srgbClr val="FFFFFF"/>
                </a:solidFill>
              </a:rPr>
              <a:t>E4  Security, Governance &amp; Compliance</a:t>
            </a:r>
          </a:p>
        </p:txBody>
      </p:sp>
      <p:sp>
        <p:nvSpPr>
          <p:cNvPr id="28" name="TextBox 27"/>
          <p:cNvSpPr txBox="1"/>
          <p:nvPr/>
        </p:nvSpPr>
        <p:spPr>
          <a:xfrm>
            <a:off x="2613045" y="3262416"/>
            <a:ext cx="380000" cy="160000"/>
          </a:xfrm>
          <a:prstGeom prst="rect">
            <a:avLst/>
          </a:prstGeom>
          <a:noFill/>
        </p:spPr>
        <p:txBody>
          <a:bodyPr wrap="square">
            <a:spAutoFit/>
          </a:bodyPr>
          <a:lstStyle/>
          <a:p>
            <a:pPr algn="r"/>
            <a:r>
              <a:rPr sz="850" b="0" i="0">
                <a:solidFill>
                  <a:srgbClr val="B0C8E0"/>
                </a:solidFill>
              </a:rPr>
              <a:t>16 features</a:t>
            </a:r>
          </a:p>
        </p:txBody>
      </p:sp>
      <p:sp>
        <p:nvSpPr>
          <p:cNvPr id="29" name="TextBox 28"/>
          <p:cNvSpPr txBox="1"/>
          <p:nvPr/>
        </p:nvSpPr>
        <p:spPr>
          <a:xfrm>
            <a:off x="384048" y="3517416"/>
            <a:ext cx="2608997" cy="1295992"/>
          </a:xfrm>
          <a:prstGeom prst="rect">
            <a:avLst/>
          </a:prstGeom>
          <a:noFill/>
        </p:spPr>
        <p:txBody>
          <a:bodyPr wrap="square">
            <a:spAutoFit/>
          </a:bodyPr>
          <a:lstStyle/>
          <a:p>
            <a:pPr algn="l"/>
            <a:r>
              <a:rPr sz="950" b="0" i="0">
                <a:solidFill>
                  <a:srgbClr val="2C2C2C"/>
                </a:solidFill>
              </a:rPr>
              <a:t>Data classified, protected, and compliant automatically — tag-driven ABAC, audit trails, and regulatory posture demonstrable on demand</a:t>
            </a:r>
          </a:p>
        </p:txBody>
      </p:sp>
      <p:sp>
        <p:nvSpPr>
          <p:cNvPr id="30" name="Rectangle 29"/>
          <p:cNvSpPr/>
          <p:nvPr/>
        </p:nvSpPr>
        <p:spPr>
          <a:xfrm>
            <a:off x="3157773" y="3192416"/>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57773" y="3192416"/>
            <a:ext cx="2828453" cy="265000"/>
          </a:xfrm>
          <a:prstGeom prst="rect">
            <a:avLst/>
          </a:prstGeom>
          <a:solidFill>
            <a:srgbClr val="0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67501" y="3240416"/>
            <a:ext cx="2308997" cy="200000"/>
          </a:xfrm>
          <a:prstGeom prst="rect">
            <a:avLst/>
          </a:prstGeom>
          <a:noFill/>
        </p:spPr>
        <p:txBody>
          <a:bodyPr wrap="square">
            <a:spAutoFit/>
          </a:bodyPr>
          <a:lstStyle/>
          <a:p>
            <a:pPr algn="l"/>
            <a:r>
              <a:rPr sz="1050" b="1" i="0">
                <a:solidFill>
                  <a:srgbClr val="FFFFFF"/>
                </a:solidFill>
              </a:rPr>
              <a:t>E5  DataOps &amp; Engineering Excellence</a:t>
            </a:r>
          </a:p>
        </p:txBody>
      </p:sp>
      <p:sp>
        <p:nvSpPr>
          <p:cNvPr id="33" name="TextBox 32"/>
          <p:cNvSpPr txBox="1"/>
          <p:nvPr/>
        </p:nvSpPr>
        <p:spPr>
          <a:xfrm>
            <a:off x="5496498" y="3262416"/>
            <a:ext cx="380000" cy="160000"/>
          </a:xfrm>
          <a:prstGeom prst="rect">
            <a:avLst/>
          </a:prstGeom>
          <a:noFill/>
        </p:spPr>
        <p:txBody>
          <a:bodyPr wrap="square">
            <a:spAutoFit/>
          </a:bodyPr>
          <a:lstStyle/>
          <a:p>
            <a:pPr algn="r"/>
            <a:r>
              <a:rPr sz="850" b="0" i="0">
                <a:solidFill>
                  <a:srgbClr val="B0C8E0"/>
                </a:solidFill>
              </a:rPr>
              <a:t>12 features</a:t>
            </a:r>
          </a:p>
        </p:txBody>
      </p:sp>
      <p:sp>
        <p:nvSpPr>
          <p:cNvPr id="34" name="TextBox 33"/>
          <p:cNvSpPr txBox="1"/>
          <p:nvPr/>
        </p:nvSpPr>
        <p:spPr>
          <a:xfrm>
            <a:off x="3267501" y="3517416"/>
            <a:ext cx="2608997" cy="1295992"/>
          </a:xfrm>
          <a:prstGeom prst="rect">
            <a:avLst/>
          </a:prstGeom>
          <a:noFill/>
        </p:spPr>
        <p:txBody>
          <a:bodyPr wrap="square">
            <a:spAutoFit/>
          </a:bodyPr>
          <a:lstStyle/>
          <a:p>
            <a:pPr algn="l"/>
            <a:r>
              <a:rPr sz="950" b="0" i="0">
                <a:solidFill>
                  <a:srgbClr val="2C2C2C"/>
                </a:solidFill>
              </a:rPr>
              <a:t>Automated delivery pipeline — code promotes safely, tests run automatically, non-prod costs stay at ≤10% of production</a:t>
            </a:r>
          </a:p>
        </p:txBody>
      </p:sp>
      <p:sp>
        <p:nvSpPr>
          <p:cNvPr id="35" name="Rectangle 34"/>
          <p:cNvSpPr/>
          <p:nvPr/>
        </p:nvSpPr>
        <p:spPr>
          <a:xfrm>
            <a:off x="6041226" y="3192416"/>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41226" y="3192416"/>
            <a:ext cx="2828453" cy="265000"/>
          </a:xfrm>
          <a:prstGeom prst="rect">
            <a:avLst/>
          </a:prstGeom>
          <a:solidFill>
            <a:srgbClr val="0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50954" y="3240416"/>
            <a:ext cx="2308997" cy="200000"/>
          </a:xfrm>
          <a:prstGeom prst="rect">
            <a:avLst/>
          </a:prstGeom>
          <a:noFill/>
        </p:spPr>
        <p:txBody>
          <a:bodyPr wrap="square">
            <a:spAutoFit/>
          </a:bodyPr>
          <a:lstStyle/>
          <a:p>
            <a:pPr algn="l"/>
            <a:r>
              <a:rPr sz="1050" b="1" i="0">
                <a:solidFill>
                  <a:srgbClr val="FFFFFF"/>
                </a:solidFill>
              </a:rPr>
              <a:t>E6  Discovery &amp; Catalogue</a:t>
            </a:r>
          </a:p>
        </p:txBody>
      </p:sp>
      <p:sp>
        <p:nvSpPr>
          <p:cNvPr id="38" name="TextBox 37"/>
          <p:cNvSpPr txBox="1"/>
          <p:nvPr/>
        </p:nvSpPr>
        <p:spPr>
          <a:xfrm>
            <a:off x="8379951" y="3262416"/>
            <a:ext cx="380000" cy="160000"/>
          </a:xfrm>
          <a:prstGeom prst="rect">
            <a:avLst/>
          </a:prstGeom>
          <a:noFill/>
        </p:spPr>
        <p:txBody>
          <a:bodyPr wrap="square">
            <a:spAutoFit/>
          </a:bodyPr>
          <a:lstStyle/>
          <a:p>
            <a:pPr algn="r"/>
            <a:r>
              <a:rPr sz="850" b="0" i="0">
                <a:solidFill>
                  <a:srgbClr val="B0C8E0"/>
                </a:solidFill>
              </a:rPr>
              <a:t>7 features</a:t>
            </a:r>
          </a:p>
        </p:txBody>
      </p:sp>
      <p:sp>
        <p:nvSpPr>
          <p:cNvPr id="39" name="TextBox 38"/>
          <p:cNvSpPr txBox="1"/>
          <p:nvPr/>
        </p:nvSpPr>
        <p:spPr>
          <a:xfrm>
            <a:off x="6150954" y="3517416"/>
            <a:ext cx="2608997" cy="1295992"/>
          </a:xfrm>
          <a:prstGeom prst="rect">
            <a:avLst/>
          </a:prstGeom>
          <a:noFill/>
        </p:spPr>
        <p:txBody>
          <a:bodyPr wrap="square">
            <a:spAutoFit/>
          </a:bodyPr>
          <a:lstStyle/>
          <a:p>
            <a:pPr algn="l"/>
            <a:r>
              <a:rPr sz="950" b="0" i="0">
                <a:solidFill>
                  <a:srgbClr val="2C2C2C"/>
                </a:solidFill>
              </a:rPr>
              <a:t>Every EDAP data asset discoverable in Alation with full metadata, lineage, and business context — kept current automatically</a:t>
            </a:r>
          </a:p>
        </p:txBody>
      </p:sp>
      <p:sp>
        <p:nvSpPr>
          <p:cNvPr id="40" name="Rectangle 39"/>
          <p:cNvSpPr/>
          <p:nvPr/>
        </p:nvSpPr>
        <p:spPr>
          <a:xfrm>
            <a:off x="274320" y="4908408"/>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4908408"/>
            <a:ext cx="2828453" cy="265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4956408"/>
            <a:ext cx="2308997" cy="200000"/>
          </a:xfrm>
          <a:prstGeom prst="rect">
            <a:avLst/>
          </a:prstGeom>
          <a:noFill/>
        </p:spPr>
        <p:txBody>
          <a:bodyPr wrap="square">
            <a:spAutoFit/>
          </a:bodyPr>
          <a:lstStyle/>
          <a:p>
            <a:pPr algn="l"/>
            <a:r>
              <a:rPr sz="1050" b="1" i="0">
                <a:solidFill>
                  <a:srgbClr val="FFFFFF"/>
                </a:solidFill>
              </a:rPr>
              <a:t>E7  Analytics &amp; AI</a:t>
            </a:r>
          </a:p>
        </p:txBody>
      </p:sp>
      <p:sp>
        <p:nvSpPr>
          <p:cNvPr id="43" name="TextBox 42"/>
          <p:cNvSpPr txBox="1"/>
          <p:nvPr/>
        </p:nvSpPr>
        <p:spPr>
          <a:xfrm>
            <a:off x="2613045" y="4978408"/>
            <a:ext cx="380000" cy="160000"/>
          </a:xfrm>
          <a:prstGeom prst="rect">
            <a:avLst/>
          </a:prstGeom>
          <a:noFill/>
        </p:spPr>
        <p:txBody>
          <a:bodyPr wrap="square">
            <a:spAutoFit/>
          </a:bodyPr>
          <a:lstStyle/>
          <a:p>
            <a:pPr algn="r"/>
            <a:r>
              <a:rPr sz="850" b="0" i="0">
                <a:solidFill>
                  <a:srgbClr val="B0C8E0"/>
                </a:solidFill>
              </a:rPr>
              <a:t>6 features</a:t>
            </a:r>
          </a:p>
        </p:txBody>
      </p:sp>
      <p:sp>
        <p:nvSpPr>
          <p:cNvPr id="44" name="TextBox 43"/>
          <p:cNvSpPr txBox="1"/>
          <p:nvPr/>
        </p:nvSpPr>
        <p:spPr>
          <a:xfrm>
            <a:off x="384048" y="5233408"/>
            <a:ext cx="2608997" cy="1295992"/>
          </a:xfrm>
          <a:prstGeom prst="rect">
            <a:avLst/>
          </a:prstGeom>
          <a:noFill/>
        </p:spPr>
        <p:txBody>
          <a:bodyPr wrap="square">
            <a:spAutoFit/>
          </a:bodyPr>
          <a:lstStyle/>
          <a:p>
            <a:pPr algn="l"/>
            <a:r>
              <a:rPr sz="950" b="0" i="0">
                <a:solidFill>
                  <a:srgbClr val="2C2C2C"/>
                </a:solidFill>
              </a:rPr>
              <a:t>MLOps capabilities operational: experiment, train, deploy, and monitor models; three OMLIX algorithms running in the Customer domain</a:t>
            </a:r>
          </a:p>
        </p:txBody>
      </p:sp>
      <p:sp>
        <p:nvSpPr>
          <p:cNvPr id="45" name="Rectangle 44"/>
          <p:cNvSpPr/>
          <p:nvPr/>
        </p:nvSpPr>
        <p:spPr>
          <a:xfrm>
            <a:off x="3157773" y="4908408"/>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57773" y="4908408"/>
            <a:ext cx="2828453" cy="265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67501" y="4956408"/>
            <a:ext cx="2308997" cy="200000"/>
          </a:xfrm>
          <a:prstGeom prst="rect">
            <a:avLst/>
          </a:prstGeom>
          <a:noFill/>
        </p:spPr>
        <p:txBody>
          <a:bodyPr wrap="square">
            <a:spAutoFit/>
          </a:bodyPr>
          <a:lstStyle/>
          <a:p>
            <a:pPr algn="l"/>
            <a:r>
              <a:rPr sz="1050" b="1" i="0">
                <a:solidFill>
                  <a:srgbClr val="FFFFFF"/>
                </a:solidFill>
              </a:rPr>
              <a:t>E8  Migration Pathways</a:t>
            </a:r>
          </a:p>
        </p:txBody>
      </p:sp>
      <p:sp>
        <p:nvSpPr>
          <p:cNvPr id="48" name="TextBox 47"/>
          <p:cNvSpPr txBox="1"/>
          <p:nvPr/>
        </p:nvSpPr>
        <p:spPr>
          <a:xfrm>
            <a:off x="5496498" y="4978408"/>
            <a:ext cx="380000" cy="160000"/>
          </a:xfrm>
          <a:prstGeom prst="rect">
            <a:avLst/>
          </a:prstGeom>
          <a:noFill/>
        </p:spPr>
        <p:txBody>
          <a:bodyPr wrap="square">
            <a:spAutoFit/>
          </a:bodyPr>
          <a:lstStyle/>
          <a:p>
            <a:pPr algn="r"/>
            <a:r>
              <a:rPr sz="850" b="0" i="0">
                <a:solidFill>
                  <a:srgbClr val="B0C8E0"/>
                </a:solidFill>
              </a:rPr>
              <a:t>6 features</a:t>
            </a:r>
          </a:p>
        </p:txBody>
      </p:sp>
      <p:sp>
        <p:nvSpPr>
          <p:cNvPr id="49" name="TextBox 48"/>
          <p:cNvSpPr txBox="1"/>
          <p:nvPr/>
        </p:nvSpPr>
        <p:spPr>
          <a:xfrm>
            <a:off x="3267501" y="5233408"/>
            <a:ext cx="2608997" cy="1295992"/>
          </a:xfrm>
          <a:prstGeom prst="rect">
            <a:avLst/>
          </a:prstGeom>
          <a:noFill/>
        </p:spPr>
        <p:txBody>
          <a:bodyPr wrap="square">
            <a:spAutoFit/>
          </a:bodyPr>
          <a:lstStyle/>
          <a:p>
            <a:pPr algn="l"/>
            <a:r>
              <a:rPr sz="950" b="0" i="0">
                <a:solidFill>
                  <a:srgbClr val="2C2C2C"/>
                </a:solidFill>
              </a:rPr>
              <a:t>Every legacy platform (Glue, ADF, SAP DS, SageMaker) has a documented, costed, proven migration path to EDAP</a:t>
            </a:r>
          </a:p>
        </p:txBody>
      </p:sp>
      <p:sp>
        <p:nvSpPr>
          <p:cNvPr id="50" name="Rectangle 49"/>
          <p:cNvSpPr/>
          <p:nvPr/>
        </p:nvSpPr>
        <p:spPr>
          <a:xfrm>
            <a:off x="6041226" y="4908408"/>
            <a:ext cx="2828453" cy="1660992"/>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41226" y="4908408"/>
            <a:ext cx="2828453" cy="265000"/>
          </a:xfrm>
          <a:prstGeom prst="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0954" y="4956408"/>
            <a:ext cx="2308997" cy="200000"/>
          </a:xfrm>
          <a:prstGeom prst="rect">
            <a:avLst/>
          </a:prstGeom>
          <a:noFill/>
        </p:spPr>
        <p:txBody>
          <a:bodyPr wrap="square">
            <a:spAutoFit/>
          </a:bodyPr>
          <a:lstStyle/>
          <a:p>
            <a:pPr algn="l"/>
            <a:r>
              <a:rPr sz="1050" b="1" i="0">
                <a:solidFill>
                  <a:srgbClr val="FFFFFF"/>
                </a:solidFill>
              </a:rPr>
              <a:t>E9  Capability Uplift &amp; Advisory</a:t>
            </a:r>
          </a:p>
        </p:txBody>
      </p:sp>
      <p:sp>
        <p:nvSpPr>
          <p:cNvPr id="53" name="TextBox 52"/>
          <p:cNvSpPr txBox="1"/>
          <p:nvPr/>
        </p:nvSpPr>
        <p:spPr>
          <a:xfrm>
            <a:off x="8379951" y="4978408"/>
            <a:ext cx="380000" cy="160000"/>
          </a:xfrm>
          <a:prstGeom prst="rect">
            <a:avLst/>
          </a:prstGeom>
          <a:noFill/>
        </p:spPr>
        <p:txBody>
          <a:bodyPr wrap="square">
            <a:spAutoFit/>
          </a:bodyPr>
          <a:lstStyle/>
          <a:p>
            <a:pPr algn="r"/>
            <a:r>
              <a:rPr sz="850" b="0" i="0">
                <a:solidFill>
                  <a:srgbClr val="B0C8E0"/>
                </a:solidFill>
              </a:rPr>
              <a:t>17 features</a:t>
            </a:r>
          </a:p>
        </p:txBody>
      </p:sp>
      <p:sp>
        <p:nvSpPr>
          <p:cNvPr id="54" name="TextBox 53"/>
          <p:cNvSpPr txBox="1"/>
          <p:nvPr/>
        </p:nvSpPr>
        <p:spPr>
          <a:xfrm>
            <a:off x="6150954" y="5233408"/>
            <a:ext cx="2608997" cy="1295992"/>
          </a:xfrm>
          <a:prstGeom prst="rect">
            <a:avLst/>
          </a:prstGeom>
          <a:noFill/>
        </p:spPr>
        <p:txBody>
          <a:bodyPr wrap="square">
            <a:spAutoFit/>
          </a:bodyPr>
          <a:lstStyle/>
          <a:p>
            <a:pPr algn="l"/>
            <a:r>
              <a:rPr sz="950" b="0" i="0">
                <a:solidFill>
                  <a:srgbClr val="2C2C2C"/>
                </a:solidFill>
              </a:rPr>
              <a:t>WC team self-sufficient on EDAP — trained, certified, embedded in delivery, with endorsed governance frameworks for data products and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9144000" cy="54864"/>
          </a:xfrm>
          <a:prstGeom prst="rect">
            <a:avLst/>
          </a:prstGeom>
          <a:solidFill>
            <a:srgbClr val="00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9144000" cy="228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8595360" cy="503000"/>
          </a:xfrm>
          <a:prstGeom prst="rect">
            <a:avLst/>
          </a:prstGeom>
          <a:noFill/>
        </p:spPr>
        <p:txBody>
          <a:bodyPr wrap="square">
            <a:spAutoFit/>
          </a:bodyPr>
          <a:lstStyle/>
          <a:p>
            <a:pPr algn="l"/>
            <a:r>
              <a:rPr sz="2200" b="1" i="0">
                <a:solidFill>
                  <a:srgbClr val="FFFFFF"/>
                </a:solidFill>
              </a:rPr>
              <a:t>Project Outcomes — Supporting the Strategic Vision</a:t>
            </a:r>
          </a:p>
        </p:txBody>
      </p:sp>
      <p:sp>
        <p:nvSpPr>
          <p:cNvPr id="6" name="TextBox 5"/>
          <p:cNvSpPr txBox="1"/>
          <p:nvPr/>
        </p:nvSpPr>
        <p:spPr>
          <a:xfrm>
            <a:off x="274320" y="619000"/>
            <a:ext cx="8595360" cy="380000"/>
          </a:xfrm>
          <a:prstGeom prst="rect">
            <a:avLst/>
          </a:prstGeom>
          <a:noFill/>
        </p:spPr>
        <p:txBody>
          <a:bodyPr wrap="square">
            <a:spAutoFit/>
          </a:bodyPr>
          <a:lstStyle/>
          <a:p>
            <a:pPr algn="l"/>
            <a:r>
              <a:rPr sz="1100" b="0" i="0">
                <a:solidFill>
                  <a:srgbClr val="B0C8E0"/>
                </a:solidFill>
              </a:rPr>
              <a:t>How this project’s deliverables connect to each of the five strategic themes</a:t>
            </a:r>
          </a:p>
        </p:txBody>
      </p:sp>
      <p:sp>
        <p:nvSpPr>
          <p:cNvPr id="7" name="TextBox 6"/>
          <p:cNvSpPr txBox="1"/>
          <p:nvPr/>
        </p:nvSpPr>
        <p:spPr>
          <a:xfrm>
            <a:off x="274320" y="6674400"/>
            <a:ext cx="6858000" cy="180000"/>
          </a:xfrm>
          <a:prstGeom prst="rect">
            <a:avLst/>
          </a:prstGeom>
          <a:noFill/>
        </p:spPr>
        <p:txBody>
          <a:bodyPr wrap="square">
            <a:spAutoFit/>
          </a:bodyPr>
          <a:lstStyle/>
          <a:p>
            <a:pPr algn="l"/>
            <a:r>
              <a:rPr sz="800" b="0" i="0">
                <a:solidFill>
                  <a:srgbClr val="B0C8E0"/>
                </a:solidFill>
              </a:rPr>
              <a:t>Water Corporation  |  EDAP Programme  |  March 2026</a:t>
            </a:r>
          </a:p>
        </p:txBody>
      </p:sp>
      <p:sp>
        <p:nvSpPr>
          <p:cNvPr id="8" name="TextBox 7"/>
          <p:cNvSpPr txBox="1"/>
          <p:nvPr/>
        </p:nvSpPr>
        <p:spPr>
          <a:xfrm>
            <a:off x="8319680" y="6674400"/>
            <a:ext cx="550000" cy="180000"/>
          </a:xfrm>
          <a:prstGeom prst="rect">
            <a:avLst/>
          </a:prstGeom>
          <a:noFill/>
        </p:spPr>
        <p:txBody>
          <a:bodyPr wrap="square">
            <a:spAutoFit/>
          </a:bodyPr>
          <a:lstStyle/>
          <a:p>
            <a:pPr algn="r"/>
            <a:r>
              <a:rPr sz="800" b="0" i="0">
                <a:solidFill>
                  <a:srgbClr val="B0C8E0"/>
                </a:solidFill>
              </a:rPr>
              <a:t>4 / 4</a:t>
            </a:r>
          </a:p>
        </p:txBody>
      </p:sp>
      <p:sp>
        <p:nvSpPr>
          <p:cNvPr id="9" name="TextBox 8"/>
          <p:cNvSpPr txBox="1"/>
          <p:nvPr/>
        </p:nvSpPr>
        <p:spPr>
          <a:xfrm>
            <a:off x="274320" y="1196424"/>
            <a:ext cx="8595360" cy="260000"/>
          </a:xfrm>
          <a:prstGeom prst="rect">
            <a:avLst/>
          </a:prstGeom>
          <a:noFill/>
        </p:spPr>
        <p:txBody>
          <a:bodyPr wrap="square">
            <a:spAutoFit/>
          </a:bodyPr>
          <a:lstStyle/>
          <a:p>
            <a:pPr algn="l"/>
            <a:r>
              <a:rPr sz="1050" b="0" i="1">
                <a:solidFill>
                  <a:srgbClr val="2C2C2C"/>
                </a:solidFill>
              </a:rPr>
              <a:t>Each outcome is traceable to a scope item and an epic. Together they confirm EDAP has landed — not just been deployed.</a:t>
            </a:r>
          </a:p>
        </p:txBody>
      </p:sp>
      <p:sp>
        <p:nvSpPr>
          <p:cNvPr id="10" name="Rectangle 9"/>
          <p:cNvSpPr/>
          <p:nvPr/>
        </p:nvSpPr>
        <p:spPr>
          <a:xfrm>
            <a:off x="274320" y="1476424"/>
            <a:ext cx="8595360" cy="95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76424"/>
            <a:ext cx="1640000" cy="95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42260"/>
            <a:ext cx="1420544" cy="818327"/>
          </a:xfrm>
          <a:prstGeom prst="rect">
            <a:avLst/>
          </a:prstGeom>
          <a:noFill/>
        </p:spPr>
        <p:txBody>
          <a:bodyPr wrap="square">
            <a:spAutoFit/>
          </a:bodyPr>
          <a:lstStyle/>
          <a:p>
            <a:pPr algn="l"/>
            <a:r>
              <a:rPr sz="1050" b="1" i="0">
                <a:solidFill>
                  <a:srgbClr val="FFFFFF"/>
                </a:solidFill>
              </a:rPr>
              <a:t>Trusted Data</a:t>
            </a:r>
          </a:p>
          <a:p>
            <a:pPr algn="l"/>
            <a:r>
              <a:rPr sz="1050" b="1" i="0">
                <a:solidFill>
                  <a:srgbClr val="FFFFFF"/>
                </a:solidFill>
              </a:rPr>
              <a:t>Foundation</a:t>
            </a:r>
          </a:p>
          <a:p>
            <a:pPr algn="l">
              <a:spcBef>
                <a:spcPts val="500"/>
              </a:spcBef>
            </a:pPr>
            <a:r>
              <a:rPr sz="850" b="0" i="0">
                <a:solidFill>
                  <a:srgbClr val="006E8C"/>
                </a:solidFill>
              </a:rPr>
              <a:t>Epics: E1 · E2 · E3</a:t>
            </a:r>
          </a:p>
        </p:txBody>
      </p:sp>
      <p:sp>
        <p:nvSpPr>
          <p:cNvPr id="13" name="TextBox 12"/>
          <p:cNvSpPr txBox="1"/>
          <p:nvPr/>
        </p:nvSpPr>
        <p:spPr>
          <a:xfrm>
            <a:off x="2024048" y="1542260"/>
            <a:ext cx="6735904" cy="818327"/>
          </a:xfrm>
          <a:prstGeom prst="rect">
            <a:avLst/>
          </a:prstGeom>
          <a:noFill/>
        </p:spPr>
        <p:txBody>
          <a:bodyPr wrap="square">
            <a:spAutoFit/>
          </a:bodyPr>
          <a:lstStyle/>
          <a:p>
            <a:pPr algn="l">
              <a:spcAft>
                <a:spcPts val="300"/>
              </a:spcAft>
            </a:pPr>
            <a:r>
              <a:rPr sz="900" b="0" i="0">
                <a:solidFill>
                  <a:srgbClr val="2C2C2C"/>
                </a:solidFill>
              </a:rPr>
              <a:t>•  Databricks lakehouse across Dev / Test / Prod with Unity Catalog metastore and domain-isolated catalogues</a:t>
            </a:r>
          </a:p>
          <a:p>
            <a:pPr algn="l">
              <a:spcBef>
                <a:spcPts val="400"/>
              </a:spcBef>
              <a:spcAft>
                <a:spcPts val="300"/>
              </a:spcAft>
            </a:pPr>
            <a:r>
              <a:rPr sz="900" b="0" i="0">
                <a:solidFill>
                  <a:srgbClr val="2C2C2C"/>
                </a:solidFill>
              </a:rPr>
              <a:t>•  Metadata-driven ingestion framework: configuration-based onboarding for batch, CDC, streaming, and file sources</a:t>
            </a:r>
          </a:p>
          <a:p>
            <a:pPr algn="l">
              <a:spcBef>
                <a:spcPts val="400"/>
              </a:spcBef>
              <a:spcAft>
                <a:spcPts val="300"/>
              </a:spcAft>
            </a:pPr>
            <a:r>
              <a:rPr sz="900" b="0" i="0">
                <a:solidFill>
                  <a:srgbClr val="2C2C2C"/>
                </a:solidFill>
              </a:rPr>
              <a:t>•  Business-ready dimensional models in Gold layer with contractual quality guarantees and automated SLA tracking</a:t>
            </a:r>
          </a:p>
        </p:txBody>
      </p:sp>
      <p:sp>
        <p:nvSpPr>
          <p:cNvPr id="14" name="Rectangle 13"/>
          <p:cNvSpPr/>
          <p:nvPr/>
        </p:nvSpPr>
        <p:spPr>
          <a:xfrm>
            <a:off x="274320" y="2471424"/>
            <a:ext cx="8595360" cy="95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471424"/>
            <a:ext cx="1640000" cy="95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2537260"/>
            <a:ext cx="1420544" cy="818327"/>
          </a:xfrm>
          <a:prstGeom prst="rect">
            <a:avLst/>
          </a:prstGeom>
          <a:noFill/>
        </p:spPr>
        <p:txBody>
          <a:bodyPr wrap="square">
            <a:spAutoFit/>
          </a:bodyPr>
          <a:lstStyle/>
          <a:p>
            <a:pPr algn="l"/>
            <a:r>
              <a:rPr sz="1050" b="1" i="0">
                <a:solidFill>
                  <a:srgbClr val="FFFFFF"/>
                </a:solidFill>
              </a:rPr>
              <a:t>Compliance</a:t>
            </a:r>
          </a:p>
          <a:p>
            <a:pPr algn="l"/>
            <a:r>
              <a:rPr sz="1050" b="1" i="0">
                <a:solidFill>
                  <a:srgbClr val="FFFFFF"/>
                </a:solidFill>
              </a:rPr>
              <a:t>by Design</a:t>
            </a:r>
          </a:p>
          <a:p>
            <a:pPr algn="l">
              <a:spcBef>
                <a:spcPts val="500"/>
              </a:spcBef>
            </a:pPr>
            <a:r>
              <a:rPr sz="850" b="0" i="0">
                <a:solidFill>
                  <a:srgbClr val="006E8C"/>
                </a:solidFill>
              </a:rPr>
              <a:t>Epics: E4</a:t>
            </a:r>
          </a:p>
        </p:txBody>
      </p:sp>
      <p:sp>
        <p:nvSpPr>
          <p:cNvPr id="17" name="TextBox 16"/>
          <p:cNvSpPr txBox="1"/>
          <p:nvPr/>
        </p:nvSpPr>
        <p:spPr>
          <a:xfrm>
            <a:off x="2024048" y="2537260"/>
            <a:ext cx="6735904" cy="818327"/>
          </a:xfrm>
          <a:prstGeom prst="rect">
            <a:avLst/>
          </a:prstGeom>
          <a:noFill/>
        </p:spPr>
        <p:txBody>
          <a:bodyPr wrap="square">
            <a:spAutoFit/>
          </a:bodyPr>
          <a:lstStyle/>
          <a:p>
            <a:pPr algn="l">
              <a:spcAft>
                <a:spcPts val="300"/>
              </a:spcAft>
            </a:pPr>
            <a:r>
              <a:rPr sz="900" b="0" i="0">
                <a:solidFill>
                  <a:srgbClr val="2C2C2C"/>
                </a:solidFill>
              </a:rPr>
              <a:t>•  4-layer tagging model live: WAICP classification → sensitivity reason → access handling → operational metadata</a:t>
            </a:r>
          </a:p>
          <a:p>
            <a:pPr algn="l">
              <a:spcBef>
                <a:spcPts val="400"/>
              </a:spcBef>
              <a:spcAft>
                <a:spcPts val="300"/>
              </a:spcAft>
            </a:pPr>
            <a:r>
              <a:rPr sz="900" b="0" i="0">
                <a:solidFill>
                  <a:srgbClr val="2C2C2C"/>
                </a:solidFill>
              </a:rPr>
              <a:t>•  Alation–Unity Catalog bidirectional sync: steward classifications automatically enforce ABAC policies in Databricks</a:t>
            </a:r>
          </a:p>
          <a:p>
            <a:pPr algn="l">
              <a:spcBef>
                <a:spcPts val="400"/>
              </a:spcBef>
              <a:spcAft>
                <a:spcPts val="300"/>
              </a:spcAft>
            </a:pPr>
            <a:r>
              <a:rPr sz="900" b="0" i="0">
                <a:solidFill>
                  <a:srgbClr val="2C2C2C"/>
                </a:solidFill>
              </a:rPr>
              <a:t>•  PRIS / SOCI / State Records compliance demonstrable on demand from Unity Catalog system tables</a:t>
            </a:r>
          </a:p>
        </p:txBody>
      </p:sp>
      <p:sp>
        <p:nvSpPr>
          <p:cNvPr id="18" name="Rectangle 17"/>
          <p:cNvSpPr/>
          <p:nvPr/>
        </p:nvSpPr>
        <p:spPr>
          <a:xfrm>
            <a:off x="274320" y="3466424"/>
            <a:ext cx="8595360" cy="72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466424"/>
            <a:ext cx="1640000" cy="72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3532260"/>
            <a:ext cx="1420544" cy="588327"/>
          </a:xfrm>
          <a:prstGeom prst="rect">
            <a:avLst/>
          </a:prstGeom>
          <a:noFill/>
        </p:spPr>
        <p:txBody>
          <a:bodyPr wrap="square">
            <a:spAutoFit/>
          </a:bodyPr>
          <a:lstStyle/>
          <a:p>
            <a:pPr algn="l"/>
            <a:r>
              <a:rPr sz="1050" b="1" i="0">
                <a:solidFill>
                  <a:srgbClr val="FFFFFF"/>
                </a:solidFill>
              </a:rPr>
              <a:t>Discoverable</a:t>
            </a:r>
          </a:p>
          <a:p>
            <a:pPr algn="l"/>
            <a:r>
              <a:rPr sz="1050" b="1" i="0">
                <a:solidFill>
                  <a:srgbClr val="FFFFFF"/>
                </a:solidFill>
              </a:rPr>
              <a:t>and Liquid Data</a:t>
            </a:r>
          </a:p>
          <a:p>
            <a:pPr algn="l">
              <a:spcBef>
                <a:spcPts val="500"/>
              </a:spcBef>
            </a:pPr>
            <a:r>
              <a:rPr sz="850" b="0" i="0">
                <a:solidFill>
                  <a:srgbClr val="006E8C"/>
                </a:solidFill>
              </a:rPr>
              <a:t>Epics: E3 · E6</a:t>
            </a:r>
          </a:p>
        </p:txBody>
      </p:sp>
      <p:sp>
        <p:nvSpPr>
          <p:cNvPr id="21" name="TextBox 20"/>
          <p:cNvSpPr txBox="1"/>
          <p:nvPr/>
        </p:nvSpPr>
        <p:spPr>
          <a:xfrm>
            <a:off x="2024048" y="3532260"/>
            <a:ext cx="6735904" cy="588327"/>
          </a:xfrm>
          <a:prstGeom prst="rect">
            <a:avLst/>
          </a:prstGeom>
          <a:noFill/>
        </p:spPr>
        <p:txBody>
          <a:bodyPr wrap="square">
            <a:spAutoFit/>
          </a:bodyPr>
          <a:lstStyle/>
          <a:p>
            <a:pPr algn="l">
              <a:spcAft>
                <a:spcPts val="300"/>
              </a:spcAft>
            </a:pPr>
            <a:r>
              <a:rPr sz="900" b="0" i="0">
                <a:solidFill>
                  <a:srgbClr val="2C2C2C"/>
                </a:solidFill>
              </a:rPr>
              <a:t>•  Every EDAP asset discoverable in Alation with full end-to-end lineage from source system through to Gold</a:t>
            </a:r>
          </a:p>
          <a:p>
            <a:pPr algn="l">
              <a:spcBef>
                <a:spcPts val="400"/>
              </a:spcBef>
              <a:spcAft>
                <a:spcPts val="300"/>
              </a:spcAft>
            </a:pPr>
            <a:r>
              <a:rPr sz="900" b="0" i="0">
                <a:solidFill>
                  <a:srgbClr val="2C2C2C"/>
                </a:solidFill>
              </a:rPr>
              <a:t>•  Metadata current automatically via OCF connector; stewardship workflows operational with clear accountability</a:t>
            </a:r>
          </a:p>
        </p:txBody>
      </p:sp>
      <p:sp>
        <p:nvSpPr>
          <p:cNvPr id="22" name="Rectangle 21"/>
          <p:cNvSpPr/>
          <p:nvPr/>
        </p:nvSpPr>
        <p:spPr>
          <a:xfrm>
            <a:off x="274320" y="4231424"/>
            <a:ext cx="8595360" cy="72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231424"/>
            <a:ext cx="1640000" cy="72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4297260"/>
            <a:ext cx="1420544" cy="588327"/>
          </a:xfrm>
          <a:prstGeom prst="rect">
            <a:avLst/>
          </a:prstGeom>
          <a:noFill/>
        </p:spPr>
        <p:txBody>
          <a:bodyPr wrap="square">
            <a:spAutoFit/>
          </a:bodyPr>
          <a:lstStyle/>
          <a:p>
            <a:pPr algn="l"/>
            <a:r>
              <a:rPr sz="1050" b="1" i="0">
                <a:solidFill>
                  <a:srgbClr val="FFFFFF"/>
                </a:solidFill>
              </a:rPr>
              <a:t>Intelligence</a:t>
            </a:r>
          </a:p>
          <a:p>
            <a:pPr algn="l"/>
            <a:r>
              <a:rPr sz="1050" b="1" i="0">
                <a:solidFill>
                  <a:srgbClr val="FFFFFF"/>
                </a:solidFill>
              </a:rPr>
              <a:t>at Scale</a:t>
            </a:r>
          </a:p>
          <a:p>
            <a:pPr algn="l">
              <a:spcBef>
                <a:spcPts val="500"/>
              </a:spcBef>
            </a:pPr>
            <a:r>
              <a:rPr sz="850" b="0" i="0">
                <a:solidFill>
                  <a:srgbClr val="006E8C"/>
                </a:solidFill>
              </a:rPr>
              <a:t>Epics: E7 · E8</a:t>
            </a:r>
          </a:p>
        </p:txBody>
      </p:sp>
      <p:sp>
        <p:nvSpPr>
          <p:cNvPr id="25" name="TextBox 24"/>
          <p:cNvSpPr txBox="1"/>
          <p:nvPr/>
        </p:nvSpPr>
        <p:spPr>
          <a:xfrm>
            <a:off x="2024048" y="4297260"/>
            <a:ext cx="6735904" cy="588327"/>
          </a:xfrm>
          <a:prstGeom prst="rect">
            <a:avLst/>
          </a:prstGeom>
          <a:noFill/>
        </p:spPr>
        <p:txBody>
          <a:bodyPr wrap="square">
            <a:spAutoFit/>
          </a:bodyPr>
          <a:lstStyle/>
          <a:p>
            <a:pPr algn="l">
              <a:spcAft>
                <a:spcPts val="300"/>
              </a:spcAft>
            </a:pPr>
            <a:r>
              <a:rPr sz="900" b="0" i="0">
                <a:solidFill>
                  <a:srgbClr val="2C2C2C"/>
                </a:solidFill>
              </a:rPr>
              <a:t>•  MLOps pipeline operational: experiment tracking, feature store, model registry, deployment, and drift monitoring</a:t>
            </a:r>
          </a:p>
          <a:p>
            <a:pPr algn="l">
              <a:spcBef>
                <a:spcPts val="400"/>
              </a:spcBef>
              <a:spcAft>
                <a:spcPts val="300"/>
              </a:spcAft>
            </a:pPr>
            <a:r>
              <a:rPr sz="900" b="0" i="0">
                <a:solidFill>
                  <a:srgbClr val="2C2C2C"/>
                </a:solidFill>
              </a:rPr>
              <a:t>•  Three OMLIX algorithms in production; migration pathways for Glue, ADF, SAP DS, and SageMaker documented and proven</a:t>
            </a:r>
          </a:p>
        </p:txBody>
      </p:sp>
      <p:sp>
        <p:nvSpPr>
          <p:cNvPr id="26" name="Rectangle 25"/>
          <p:cNvSpPr/>
          <p:nvPr/>
        </p:nvSpPr>
        <p:spPr>
          <a:xfrm>
            <a:off x="274320" y="4996424"/>
            <a:ext cx="8595360" cy="950000"/>
          </a:xfrm>
          <a:prstGeom prst="rect">
            <a:avLst/>
          </a:prstGeom>
          <a:solidFill>
            <a:srgbClr val="F2F4F7"/>
          </a:solidFill>
          <a:ln w="9525">
            <a:solidFill>
              <a:srgbClr val="00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996424"/>
            <a:ext cx="1640000" cy="950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5062260"/>
            <a:ext cx="1420544" cy="818327"/>
          </a:xfrm>
          <a:prstGeom prst="rect">
            <a:avLst/>
          </a:prstGeom>
          <a:noFill/>
        </p:spPr>
        <p:txBody>
          <a:bodyPr wrap="square">
            <a:spAutoFit/>
          </a:bodyPr>
          <a:lstStyle/>
          <a:p>
            <a:pPr algn="l"/>
            <a:r>
              <a:rPr sz="1050" b="1" i="0">
                <a:solidFill>
                  <a:srgbClr val="FFFFFF"/>
                </a:solidFill>
              </a:rPr>
              <a:t>Enduring</a:t>
            </a:r>
          </a:p>
          <a:p>
            <a:pPr algn="l"/>
            <a:r>
              <a:rPr sz="1050" b="1" i="0">
                <a:solidFill>
                  <a:srgbClr val="FFFFFF"/>
                </a:solidFill>
              </a:rPr>
              <a:t>Capability</a:t>
            </a:r>
          </a:p>
          <a:p>
            <a:pPr algn="l">
              <a:spcBef>
                <a:spcPts val="500"/>
              </a:spcBef>
            </a:pPr>
            <a:r>
              <a:rPr sz="850" b="0" i="0">
                <a:solidFill>
                  <a:srgbClr val="006E8C"/>
                </a:solidFill>
              </a:rPr>
              <a:t>Epics: E5 · E9</a:t>
            </a:r>
          </a:p>
        </p:txBody>
      </p:sp>
      <p:sp>
        <p:nvSpPr>
          <p:cNvPr id="29" name="TextBox 28"/>
          <p:cNvSpPr txBox="1"/>
          <p:nvPr/>
        </p:nvSpPr>
        <p:spPr>
          <a:xfrm>
            <a:off x="2024048" y="5062260"/>
            <a:ext cx="6735904" cy="818327"/>
          </a:xfrm>
          <a:prstGeom prst="rect">
            <a:avLst/>
          </a:prstGeom>
          <a:noFill/>
        </p:spPr>
        <p:txBody>
          <a:bodyPr wrap="square">
            <a:spAutoFit/>
          </a:bodyPr>
          <a:lstStyle/>
          <a:p>
            <a:pPr algn="l">
              <a:spcAft>
                <a:spcPts val="300"/>
              </a:spcAft>
            </a:pPr>
            <a:r>
              <a:rPr sz="900" b="0" i="0">
                <a:solidFill>
                  <a:srgbClr val="2C2C2C"/>
                </a:solidFill>
              </a:rPr>
              <a:t>•  DataOps CI/CD: branching, automated test pyramid, one-click promotion Dev → Test → Prod, non-prod cost ≤10% of production</a:t>
            </a:r>
          </a:p>
          <a:p>
            <a:pPr algn="l">
              <a:spcBef>
                <a:spcPts val="400"/>
              </a:spcBef>
              <a:spcAft>
                <a:spcPts val="300"/>
              </a:spcAft>
            </a:pPr>
            <a:r>
              <a:rPr sz="900" b="0" i="0">
                <a:solidFill>
                  <a:srgbClr val="2C2C2C"/>
                </a:solidFill>
              </a:rPr>
              <a:t>•  WC engineers Databricks-certified, embedded in code review, and leading delivery of their own domain pipelines</a:t>
            </a:r>
          </a:p>
          <a:p>
            <a:pPr algn="l">
              <a:spcBef>
                <a:spcPts val="400"/>
              </a:spcBef>
              <a:spcAft>
                <a:spcPts val="300"/>
              </a:spcAft>
            </a:pPr>
            <a:r>
              <a:rPr sz="900" b="0" i="0">
                <a:solidFill>
                  <a:srgbClr val="2C2C2C"/>
                </a:solidFill>
              </a:rPr>
              <a:t>•  Reusable runbooks, templates, and frameworks so WC owns and operates the platform beyond project close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