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Enterprise Imperative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</a:rPr>
              <a:t>Why EDAP exists — and what it changes for Water Corporation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9144000" cy="54864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8E0"/>
                </a:solidFill>
              </a:rPr>
              <a:t>Water Corporation  |  EDAP Programme  |  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6385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C8E0"/>
                </a:solidFill>
              </a:rPr>
              <a:t>1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07008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2C2C"/>
                </a:solidFill>
              </a:rPr>
              <a:t>Water Corporation's data landscape has grown organically across seven business domains, creating fragmentation that undermines trust, slows decisions, and complicates compliance.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09928"/>
            <a:ext cx="4160520" cy="2560320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78308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Current State — Fragmented by Design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2039112"/>
            <a:ext cx="3941063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093976"/>
            <a:ext cx="3941063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Six source systems (SAP, Maximo, SCADA, GIS, Salesforce, CASS) in silos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Multiple incompatible pipeline technologies: Glue, ADF, SAP DS, SageMaker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No unified governance — classification inconsistent, access ad hoc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Knowledge concentrated in individuals, not embedded in platform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Regulatory obligations (PRIS Act, SOCI Act, WAICP) met manually, not systematically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709928"/>
            <a:ext cx="4160520" cy="2560320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18888" y="178308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Target State — Governed by Architecture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18888" y="2039112"/>
            <a:ext cx="3941063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18888" y="2093976"/>
            <a:ext cx="3941063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Single platform: Databricks + Unity Catalog across all seven domains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Metadata-driven pipelines — new source onboarded in days, not weeks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Self-governing data: WAICP classification enforced at column level via ABAC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Certified data products with contracts, SLAs, and quality scores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AI/ML as a first-class citizen with model inventory and risk classification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5112" y="2606040"/>
            <a:ext cx="493776" cy="41148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25112" y="2587752"/>
            <a:ext cx="4937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407408"/>
            <a:ext cx="2743200" cy="896112"/>
          </a:xfrm>
          <a:prstGeom prst="rect">
            <a:avLst/>
          </a:prstGeom>
          <a:solidFill>
            <a:srgbClr val="1B2A4A"/>
          </a:solidFill>
          <a:ln w="12700">
            <a:solidFill>
              <a:srgbClr val="00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480560"/>
            <a:ext cx="2542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6E8C"/>
                </a:solidFill>
              </a:rPr>
              <a:t>Comply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736592"/>
            <a:ext cx="25420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PRIS, SOCI, WAICP, State Records
enforced architecturally — not manually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4407408"/>
            <a:ext cx="2743200" cy="896112"/>
          </a:xfrm>
          <a:prstGeom prst="rect">
            <a:avLst/>
          </a:prstGeom>
          <a:solidFill>
            <a:srgbClr val="1B2A4A"/>
          </a:solidFill>
          <a:ln w="12700">
            <a:solidFill>
              <a:srgbClr val="00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18688" y="4480560"/>
            <a:ext cx="2542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6E8C"/>
                </a:solidFill>
              </a:rPr>
              <a:t>Data as a 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4736592"/>
            <a:ext cx="25420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Findable, accessible, understandable,
quality-assured, dependable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4407408"/>
            <a:ext cx="2743200" cy="896112"/>
          </a:xfrm>
          <a:prstGeom prst="rect">
            <a:avLst/>
          </a:prstGeom>
          <a:solidFill>
            <a:srgbClr val="1B2A4A"/>
          </a:solidFill>
          <a:ln w="12700">
            <a:solidFill>
              <a:srgbClr val="006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4480560"/>
            <a:ext cx="2542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6E8C"/>
                </a:solidFill>
              </a:rPr>
              <a:t>Team Self-Sufficiency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736592"/>
            <a:ext cx="2542032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</a:rPr>
              <a:t>WC engineers own their domains;
SI transfers capability, not dependency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Enterprise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</a:rPr>
              <a:t>Medallion lakehouse with Unity Catalog governance — the foundation all delivery work builds 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9144000" cy="54864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8E0"/>
                </a:solidFill>
              </a:rPr>
              <a:t>Water Corporation  |  EDAP Programme  |  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6385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C8E0"/>
                </a:solidFill>
              </a:rPr>
              <a:t>2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07008"/>
            <a:ext cx="8595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2C2C"/>
                </a:solidFill>
              </a:rPr>
              <a:t>The wikis define the architecture that precedes delivery. Every scope item implements a layer of this stack.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572768"/>
            <a:ext cx="4846320" cy="457200"/>
          </a:xfrm>
          <a:prstGeom prst="rect">
            <a:avLst/>
          </a:prstGeom>
          <a:solidFill>
            <a:srgbClr val="B85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1627632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664208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Dimensional  |  BI Dashboards  |  Genie (conversational)  |  AI/BI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084832"/>
            <a:ext cx="4846320" cy="457200"/>
          </a:xfrm>
          <a:prstGeom prst="rect">
            <a:avLst/>
          </a:prstGeom>
          <a:solidFill>
            <a:srgbClr val="B85C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139696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GOLD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76272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Enriched  |  Exploratory  |  Sandbox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596896"/>
            <a:ext cx="4846320" cy="457200"/>
          </a:xfrm>
          <a:prstGeom prst="rect">
            <a:avLst/>
          </a:prstGeom>
          <a:solidFill>
            <a:srgbClr val="708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7472" y="2651760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2688336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Base  |  Protected (PI-masked)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108960"/>
            <a:ext cx="4846320" cy="457200"/>
          </a:xfrm>
          <a:prstGeom prst="rect">
            <a:avLst/>
          </a:prstGeom>
          <a:solidFill>
            <a:srgbClr val="708E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" y="3163824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SILVER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320040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Processed  |  Raw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621024"/>
            <a:ext cx="4846320" cy="457200"/>
          </a:xfrm>
          <a:prstGeom prst="rect">
            <a:avLst/>
          </a:prstGeom>
          <a:solidFill>
            <a:srgbClr val="8B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3675887"/>
            <a:ext cx="685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BRONZE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712463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Landing  |  Quarantine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1316736"/>
            <a:ext cx="4846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E8C"/>
                </a:solidFill>
              </a:rPr>
              <a:t>Medallion Architecture  (10 zones)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69664"/>
            <a:ext cx="4846320" cy="2743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4197096"/>
            <a:ext cx="47091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0C8E0"/>
                </a:solidFill>
              </a:rPr>
              <a:t>Unity Catalog  —  single metastore, domain-based catalogs, ABAC tag enforcement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94960" y="1316736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6E8C"/>
                </a:solidFill>
              </a:rPr>
              <a:t>Governance Pillars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94960" y="1572768"/>
            <a:ext cx="3493008" cy="950976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4688" y="1645920"/>
            <a:ext cx="3310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4-Layer Tagging Model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04688" y="1901952"/>
            <a:ext cx="3273552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04688" y="1956816"/>
            <a:ext cx="327355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Layer 1: WAICP Classification (mandatory)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Layer 2: Sensitivity Reason (PII, SOCI, AI)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Layer 3: Access &amp; Handling (masking, contracts)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Layer 4: Operational Metadata (owner, refresh, SLA)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94960" y="2578608"/>
            <a:ext cx="3493008" cy="950976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04688" y="2651760"/>
            <a:ext cx="3310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Access Control (ABAC)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504688" y="2907792"/>
            <a:ext cx="3273552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504688" y="2962656"/>
            <a:ext cx="327355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Tag-driven row/column masking at query time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Domain-federated ownership via MANAGE privilege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Break-glass audit trail in Unity Catalog system tables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94960" y="3584448"/>
            <a:ext cx="3493008" cy="950976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4688" y="3657600"/>
            <a:ext cx="3310127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Compliance by Architecture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04688" y="3913632"/>
            <a:ext cx="3273552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04688" y="3968496"/>
            <a:ext cx="3273552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PRIS Act 2024 — PI masking, anonymisation at source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SOCI Act 2018 — CMK encryption, critical infra controls</a:t>
            </a:r>
          </a:p>
          <a:p>
            <a:pPr>
              <a:spcBef>
                <a:spcPts val="200"/>
              </a:spcBef>
            </a:pPr>
            <a:r>
              <a:rPr sz="850">
                <a:solidFill>
                  <a:srgbClr val="2C2C2C"/>
                </a:solidFill>
              </a:rPr>
              <a:t>• State Records Act — retention &amp; disposal metadata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Nine Epics — Delivery Scope Mapped to the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</a:rPr>
              <a:t>95 features, sequenced foundation-first, each implementing a layer of the enterprise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9144000" cy="54864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8E0"/>
                </a:solidFill>
              </a:rPr>
              <a:t>Water Corporation  |  EDAP Programme  |  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6385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C8E0"/>
                </a:solidFill>
              </a:rPr>
              <a:t>3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0700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2C2C"/>
                </a:solidFill>
              </a:rPr>
              <a:t>The nine epics are not independent workstreams — they are ordered architectural layers. This PI establishes the foundation that all subsequent capability depends 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64208"/>
            <a:ext cx="251460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1700784"/>
            <a:ext cx="239572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Epic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1664208"/>
            <a:ext cx="315468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9232" y="1700784"/>
            <a:ext cx="303580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This PI Delivers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64208"/>
            <a:ext cx="2880360" cy="292608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91072" y="1700784"/>
            <a:ext cx="276148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Architectural Anchor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975104"/>
            <a:ext cx="251460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0" y="1975104"/>
            <a:ext cx="315468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975104"/>
            <a:ext cx="288036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2011680"/>
            <a:ext cx="23957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A4A"/>
                </a:solidFill>
              </a:rPr>
              <a:t>E1  Platform Foundation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9232" y="2011680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2C2C"/>
                </a:solidFill>
              </a:rPr>
              <a:t>Environments, UC metastore, identity, compute policies, CI/CD (DABs)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2011680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B8A"/>
                </a:solidFill>
              </a:rPr>
              <a:t>EDAP Access Model  |  Medallion Architecture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377440"/>
            <a:ext cx="251460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26080" y="2377440"/>
            <a:ext cx="315468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2377440"/>
            <a:ext cx="28803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" y="2414016"/>
            <a:ext cx="23957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A4A"/>
                </a:solidFill>
              </a:rPr>
              <a:t>E2  Data Ingestion &amp; Integration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99232" y="2414016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2C2C"/>
                </a:solidFill>
              </a:rPr>
              <a:t>Metadata-driven ingestion framework; CDC, batch &amp; event patterns proven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91072" y="2414016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B8A"/>
                </a:solidFill>
              </a:rPr>
              <a:t>Pipeline Framework (EDAP-FWK-001)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779776"/>
            <a:ext cx="251460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26080" y="2779776"/>
            <a:ext cx="315468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2779776"/>
            <a:ext cx="288036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2816352"/>
            <a:ext cx="23957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A4A"/>
                </a:solidFill>
              </a:rPr>
              <a:t>E4  Security, Governance &amp; Compliance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9232" y="2816352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2C2C"/>
                </a:solidFill>
              </a:rPr>
              <a:t>ABAC policies activated; 4-layer tagging applied; Alation OCF connector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91072" y="2816352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B8A"/>
                </a:solidFill>
              </a:rPr>
              <a:t>Tagging Strategy  |  Data Governance Roles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3182112"/>
            <a:ext cx="251460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926080" y="3182112"/>
            <a:ext cx="315468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17920" y="3182112"/>
            <a:ext cx="28803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3218688"/>
            <a:ext cx="23957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A4A"/>
                </a:solidFill>
              </a:rPr>
              <a:t>E5  DataOps &amp; Engineering Excellence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99232" y="3218688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2C2C"/>
                </a:solidFill>
              </a:rPr>
              <a:t>Branching strategy, testing pyramid, cost guardrails ≤10% non-prod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3218688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B8A"/>
                </a:solidFill>
              </a:rPr>
              <a:t>Databricks End-to-End Platform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84448"/>
            <a:ext cx="251460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926080" y="3584448"/>
            <a:ext cx="315468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17920" y="3584448"/>
            <a:ext cx="2880360" cy="374904"/>
          </a:xfrm>
          <a:prstGeom prst="rect">
            <a:avLst/>
          </a:prstGeom>
          <a:solidFill>
            <a:srgbClr val="F2F4F7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7472" y="3621024"/>
            <a:ext cx="23957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A4A"/>
                </a:solidFill>
              </a:rPr>
              <a:t>E3/6/7  Transformation, Catalogue &amp; 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99232" y="3621024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2C2C"/>
                </a:solidFill>
              </a:rPr>
              <a:t>Framework validated end-to-end; Alation–UC bidirectional sync proven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91072" y="3621024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B8A"/>
                </a:solidFill>
              </a:rPr>
              <a:t>Pipeline Framework  |  Medallion Architecture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986783"/>
            <a:ext cx="251460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26080" y="3986783"/>
            <a:ext cx="315468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217920" y="3986783"/>
            <a:ext cx="28803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7472" y="4023359"/>
            <a:ext cx="2395727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B2A4A"/>
                </a:solidFill>
              </a:rPr>
              <a:t>E8/9  Migration &amp; Capability Uplift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99232" y="4023359"/>
            <a:ext cx="3035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C2C2C"/>
                </a:solidFill>
              </a:rPr>
              <a:t>Migration pathways documented; WC engineers shadowing &amp; self-sufficient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91072" y="4023359"/>
            <a:ext cx="27614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56B8A"/>
                </a:solidFill>
              </a:rPr>
              <a:t>Lifecycle Guides  |  EA Vision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6400800"/>
            <a:ext cx="8595360" cy="18288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11480" y="6409944"/>
            <a:ext cx="83210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Scope items S2–S23 each map to one or more epics. The full feature set (95 features) is traceable to architectural decisions already closed in the wiki.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5156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09728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Know It's Working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621792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8E0"/>
                </a:solidFill>
              </a:rPr>
              <a:t>Success measures, risks, and the conditions for a self-sustaining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9144000" cy="54864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638544"/>
            <a:ext cx="6400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B0C8E0"/>
                </a:solidFill>
              </a:rPr>
              <a:t>Water Corporation  |  EDAP Programme  |  March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638544"/>
            <a:ext cx="548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B0C8E0"/>
                </a:solidFill>
              </a:rPr>
              <a:t>4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207008"/>
            <a:ext cx="8595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C2C2C"/>
                </a:solidFill>
              </a:rPr>
              <a:t>The wikis define what 'done' looks like. The delivery scope is the path to get there. These measures confirm the architecture is landing — not just deployed.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664208"/>
            <a:ext cx="4160520" cy="1920240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73736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Single Source of Truth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" y="1993392"/>
            <a:ext cx="3941063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048" y="2048256"/>
            <a:ext cx="394106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Any authorised user can find, understand, and access any data asset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Alation + Unity Catalog show consistent lineage end-to-end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No parallel pipelines serving the same domain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79" y="1664208"/>
            <a:ext cx="4160520" cy="1920240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7" y="1737360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Compliance by Design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36007" y="1993392"/>
            <a:ext cx="3941063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36007" y="2048256"/>
            <a:ext cx="394106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PRIS Act audit satisfiable from Unity Catalog system tables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All PI columns masked or anonymised at Bronze → Silver boundary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SOCI controls evidenced without manual intervention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694176"/>
            <a:ext cx="4160520" cy="1920240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8" y="3767328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Speed &amp; Self-Service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048" y="4023360"/>
            <a:ext cx="3941063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4048" y="4078224"/>
            <a:ext cx="394106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New source system onboarded in days via configuration (not code)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Domain teams run their own pipelines without platform team tickets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Non-prod compute cost ≤10% of production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26279" y="3694176"/>
            <a:ext cx="4160520" cy="1920240"/>
          </a:xfrm>
          <a:prstGeom prst="rect">
            <a:avLst/>
          </a:prstGeom>
          <a:solidFill>
            <a:srgbClr val="F2F4F7"/>
          </a:solidFill>
          <a:ln w="9525">
            <a:solidFill>
              <a:srgbClr val="CCD6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7" y="3767328"/>
            <a:ext cx="39776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6E8C"/>
                </a:solidFill>
              </a:rPr>
              <a:t>Trustworthy 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6007" y="4023360"/>
            <a:ext cx="3941063" cy="22860"/>
          </a:xfrm>
          <a:prstGeom prst="rect">
            <a:avLst/>
          </a:prstGeom>
          <a:solidFill>
            <a:srgbClr val="00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7" y="4078224"/>
            <a:ext cx="3941063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All models have cards: training data, owner, risk tier, performance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No model in production without an approved AI Risk Assessment</a:t>
            </a:r>
          </a:p>
          <a:p>
            <a:pPr>
              <a:spcBef>
                <a:spcPts val="200"/>
              </a:spcBef>
            </a:pPr>
            <a:r>
              <a:rPr sz="950">
                <a:solidFill>
                  <a:srgbClr val="2C2C2C"/>
                </a:solidFill>
              </a:rPr>
              <a:t>• WC engineers lead reviews and own model lifecycle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623560"/>
            <a:ext cx="8595360" cy="228600"/>
          </a:xfrm>
          <a:prstGeom prst="rect">
            <a:avLst/>
          </a:prstGeom>
          <a:solidFill>
            <a:srgbClr val="7A1F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632704"/>
            <a:ext cx="8321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Key risk: scope without sequencing.  E1 Foundation must complete before E2–E7 can deliver at pace.  Any de-scoping of governance features (E4) breaks the compliance by design principle.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